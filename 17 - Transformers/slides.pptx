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32"/>
  </p:notesMasterIdLst>
  <p:sldIdLst>
    <p:sldId id="256" r:id="rId5"/>
    <p:sldId id="264" r:id="rId6"/>
    <p:sldId id="290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67" r:id="rId17"/>
    <p:sldId id="368" r:id="rId18"/>
    <p:sldId id="370" r:id="rId19"/>
    <p:sldId id="369" r:id="rId20"/>
    <p:sldId id="371" r:id="rId21"/>
    <p:sldId id="358" r:id="rId22"/>
    <p:sldId id="359" r:id="rId23"/>
    <p:sldId id="360" r:id="rId24"/>
    <p:sldId id="361" r:id="rId25"/>
    <p:sldId id="362" r:id="rId26"/>
    <p:sldId id="363" r:id="rId27"/>
    <p:sldId id="364" r:id="rId28"/>
    <p:sldId id="365" r:id="rId29"/>
    <p:sldId id="366" r:id="rId30"/>
    <p:sldId id="372" r:id="rId31"/>
  </p:sldIdLst>
  <p:sldSz cx="9144000" cy="6858000" type="screen4x3"/>
  <p:notesSz cx="6858000" cy="9144000"/>
  <p:embeddedFontLst>
    <p:embeddedFont>
      <p:font typeface="Economica" panose="02000506040000020004" charset="0"/>
      <p:regular r:id="rId33"/>
      <p:bold r:id="rId34"/>
      <p:italic r:id="rId35"/>
      <p:boldItalic r:id="rId36"/>
    </p:embeddedFont>
    <p:embeddedFont>
      <p:font typeface="Open Sans" panose="020B060603050402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75"/>
    <p:restoredTop sz="96949"/>
  </p:normalViewPr>
  <p:slideViewPr>
    <p:cSldViewPr snapToGrid="0" snapToObjects="1">
      <p:cViewPr varScale="1">
        <p:scale>
          <a:sx n="107" d="100"/>
          <a:sy n="107" d="100"/>
        </p:scale>
        <p:origin x="168" y="12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7.fntdata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CC10B6C4-86F4-0A8F-1CD0-A729B980A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17EAFB03-EDFF-0F93-1442-AC1A3B09BD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C7EC9A69-E3C7-987F-01A1-50B61A55C2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6107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B26F5E88-9B93-188D-EBDD-E82EF1626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6980B83A-CA08-45C2-E0AD-FB32B7476E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0EC50613-C071-2ABF-B08B-2A5055C11B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1537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58F00B69-74BF-A032-98DF-38D310DAE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ADF85A5C-3731-6CB5-DA53-363AF99B86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9E0EBFA3-7555-39EC-A557-8E9DFD6CEB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0657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CD63C58B-4573-3BC0-3B7C-C752EF5FE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720AE7D3-82F7-5A44-467F-7500A2BBF2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8085456A-6021-8A12-B3B5-29EB3425E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2233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07800929-C9C4-11FA-97E0-95550F893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097C1F79-74FF-E773-D4FF-17C40DBDF1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E1536877-001E-A877-B439-FC0F3DF345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8852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514CF504-7D99-14FD-B093-CF86A4498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B9A8D4DC-5E91-2708-65D6-6F4DA6B86B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0DB4C167-C405-7A7C-E3E2-AD15DB9666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6744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66E6BBF7-0E91-402C-F8EF-757F1C9D0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FBC1F035-AE05-5B8C-2B22-5A12790A45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D21FA8B2-1873-992C-96A2-5A147C4F56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2293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DA336DA0-6A4F-EC66-28B9-04B928C36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67E3353B-B967-0F89-F148-0A00F76024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15D89893-2B37-C311-39E4-8936895C9A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21245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1326D76C-57E1-1FE5-8955-654BD2985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4EC14C51-4B61-E742-E540-775586E62D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B3AC40FF-4CC0-4F03-A97F-9558672BCD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0785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83023E55-46F8-081D-AEE1-FA2FE3A25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78761CB6-0621-C903-1505-EDB2480E37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1772EE59-BD31-6F08-3E6A-589E04F761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53351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A3C9DC7C-4800-1139-3BF9-F7BC294D3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FBC19F87-9EC2-5C34-BA77-6EDCBB2664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7B524183-79B4-B25D-BD24-9EB0716042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39248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39C04BC8-C99E-73F0-9F39-39CF73871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E1051AF5-60C1-39CF-617E-23D87E501D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C4167684-0B5A-5245-AB37-F47B5E684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48985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F01B0295-B2F3-D305-E54C-985C99DAE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6A293B36-2F05-F597-106B-99861AEBBA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DEA22E33-BCCC-1DAE-EC58-B006ACC8A9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41229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D6E13976-47EB-B3C2-F448-93034C533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9900A037-A56E-38BF-0AB6-247111A57B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5082D56A-1E54-CCFC-4F14-C3D7AAAEDA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69070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6E43849B-4AE7-EFDF-F7AB-81EE3C442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C60532AF-F930-7253-1181-8322FA4916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A176924D-03B3-7B35-C397-F75CC8A7FE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9950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3BB798BC-5412-1C4D-CD92-5BD10ABF7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AC1E8E64-782B-CC27-2568-504C854F45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A04422A5-94E9-FD39-9CAD-1FE54D10B7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08111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B361613D-73B4-104F-4C07-4CA15F120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4CCF5868-8E29-082C-373D-476C144830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471A11FD-BDFB-C2C4-FAFD-C5D7C577B9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03138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251E012D-3EBC-DC0E-13B9-158927332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FFF0DE99-AE12-F3E4-842C-42549A5A1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61C0F76C-7D45-1FAA-32C2-0296076C84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69564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008DDA7E-360A-C3D4-2A55-1FCD603CA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77C6C6BF-0790-8548-4EF5-A072976EDC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22B57DA8-17AF-5C75-AADD-45325F9E5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50271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E8A79626-9E60-E187-7E20-333426655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1C0A94DF-8B18-A18F-F125-E61B711442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377CDBE2-09CE-FFD9-F67C-528B82EC7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48574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F5A1A33E-E07A-6B42-E9C9-4AE09A0CD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2A1ADC65-9CD4-14A0-D97E-A48601DC73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4A12453B-11F8-9270-C730-E9A541C891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20628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F7382587-07F3-4505-EA6A-DBF058DA9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16830A66-7C91-D2BB-D374-DE4403753B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7F525F31-9E8A-B493-CC50-216225982E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25044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BDB21329-0D6C-010E-0793-304B64F6B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A93999C0-2AF0-770B-8AE2-213F472255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C8A72208-2076-7FD3-F203-E1F3DFCB15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93059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85C61513-1052-4C7B-61F9-345788086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A5CD4ECE-0E97-8259-B1CD-48C9C809B0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CB44F65E-F7AA-8E92-6F42-D7B1C94235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87433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1764CAF8-AFC7-8893-7B69-30044AA0D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CE21C55A-B121-E652-6FDF-8BCC380360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8FF698B0-0EF5-391B-6021-B751DF7D93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46435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cTheme" userDrawn="1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500"/>
              <a:buChar char="○"/>
              <a:defRPr sz="1500"/>
            </a:lvl2pPr>
            <a:lvl3pPr marL="1371600" lvl="2" indent="-3175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>
            <a:endParaRPr lang="it-IT" dirty="0"/>
          </a:p>
          <a:p>
            <a:pPr lvl="2"/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lvl="1"/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88012" y="1937550"/>
            <a:ext cx="3367975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Transformers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5B4D833-F59D-26E4-3DCB-AF8E72E5F3AE}"/>
              </a:ext>
            </a:extLst>
          </p:cNvPr>
          <p:cNvSpPr txBox="1"/>
          <p:nvPr/>
        </p:nvSpPr>
        <p:spPr>
          <a:xfrm>
            <a:off x="10456606" y="8377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Objectives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043733"/>
            <a:ext cx="8520600" cy="54900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600" dirty="0"/>
              <a:t>Input Representation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tokenization (text, images, audio)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Embeddings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sz="1600" dirty="0"/>
          </a:p>
          <a:p>
            <a:pPr lvl="0"/>
            <a:r>
              <a:rPr lang="en-GB" sz="1600" dirty="0"/>
              <a:t>Attention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queries, keys and values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attention pooling and interpretability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sz="1600" dirty="0"/>
          </a:p>
          <a:p>
            <a:pPr lvl="0"/>
            <a:r>
              <a:rPr lang="en-GB" sz="1600" dirty="0"/>
              <a:t>Scoring functions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Distance-based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Scaled Dot-Product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Additive scores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sz="1600" dirty="0"/>
          </a:p>
          <a:p>
            <a:pPr lvl="0"/>
            <a:r>
              <a:rPr lang="en-GB" sz="1600" dirty="0"/>
              <a:t>Machine Translation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word-level tokenization</a:t>
            </a:r>
            <a:endParaRPr lang="en-GB" sz="1600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Evaluation: BLEU score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sz="1600" dirty="0"/>
          </a:p>
          <a:p>
            <a:pPr lvl="0"/>
            <a:r>
              <a:rPr lang="en-GB" sz="1600" dirty="0"/>
              <a:t>Encoder–Decoder solution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Encoder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sz="1400" dirty="0"/>
              <a:t>Decoder</a:t>
            </a:r>
          </a:p>
          <a:p>
            <a:pPr marL="120650" lvl="0" indent="0">
              <a:buNone/>
            </a:pPr>
            <a:endParaRPr lang="en-GB" sz="1600" dirty="0"/>
          </a:p>
          <a:p>
            <a:endParaRPr lang="en-GB" sz="1800" dirty="0"/>
          </a:p>
          <a:p>
            <a:pPr lvl="0"/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C2611E1D-D173-FC75-7600-B41395B42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E842958F-1E79-CBE0-E977-2CDBCD68900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Introduction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0CE16391-6C6C-A17F-062E-1A8AF5F471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529988"/>
            <a:ext cx="8818500" cy="42067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noProof="0" dirty="0"/>
              <a:t>Deep learning architectures (MLP, CNN, RNN) are scaled-up and refined versions of </a:t>
            </a:r>
            <a:r>
              <a:rPr lang="en-GB" b="1" noProof="0" dirty="0"/>
              <a:t>classical ideas</a:t>
            </a:r>
          </a:p>
          <a:p>
            <a:endParaRPr lang="en-GB" noProof="0" dirty="0"/>
          </a:p>
          <a:p>
            <a:r>
              <a:rPr lang="en-GB" noProof="0" dirty="0"/>
              <a:t>Progress is largely due to </a:t>
            </a:r>
            <a:r>
              <a:rPr lang="en-GB" b="1" noProof="0" dirty="0"/>
              <a:t>more compute </a:t>
            </a:r>
            <a:r>
              <a:rPr lang="en-GB" noProof="0" dirty="0"/>
              <a:t>(GPUs) and </a:t>
            </a:r>
            <a:r>
              <a:rPr lang="en-GB" b="1" noProof="0" dirty="0"/>
              <a:t>larger datasets</a:t>
            </a:r>
            <a:endParaRPr lang="en-GB" noProof="0" dirty="0"/>
          </a:p>
          <a:p>
            <a:endParaRPr lang="en-GB" noProof="0" dirty="0"/>
          </a:p>
          <a:p>
            <a:r>
              <a:rPr lang="en-GB" noProof="0" dirty="0"/>
              <a:t>The </a:t>
            </a:r>
            <a:r>
              <a:rPr lang="en-GB" b="1" noProof="0" dirty="0"/>
              <a:t>Transformer</a:t>
            </a:r>
            <a:r>
              <a:rPr lang="en-GB" noProof="0" dirty="0"/>
              <a:t> abandons recurrence and convolution in favour of </a:t>
            </a:r>
            <a:r>
              <a:rPr lang="en-GB" b="1" noProof="0" dirty="0"/>
              <a:t>self-attention</a:t>
            </a:r>
          </a:p>
          <a:p>
            <a:endParaRPr lang="en-GB" noProof="0" dirty="0"/>
          </a:p>
          <a:p>
            <a:r>
              <a:rPr lang="en-GB" noProof="0" dirty="0"/>
              <a:t>It captures </a:t>
            </a:r>
            <a:r>
              <a:rPr lang="en-GB" b="1" noProof="0" dirty="0"/>
              <a:t>long-range dependencies </a:t>
            </a:r>
            <a:r>
              <a:rPr lang="en-GB" noProof="0" dirty="0"/>
              <a:t>and complex, context-dependent interactions in a flexible and scalable way</a:t>
            </a:r>
          </a:p>
          <a:p>
            <a:endParaRPr lang="en-GB" noProof="0" dirty="0"/>
          </a:p>
          <a:p>
            <a:r>
              <a:rPr lang="en-GB" noProof="0" dirty="0"/>
              <a:t>Provides a </a:t>
            </a:r>
            <a:r>
              <a:rPr lang="en-GB" b="1" noProof="0" dirty="0"/>
              <a:t>unified framework</a:t>
            </a:r>
            <a:r>
              <a:rPr lang="en-GB" noProof="0" dirty="0"/>
              <a:t>: the same architecture works for text, images, audio and multimodal data</a:t>
            </a:r>
          </a:p>
        </p:txBody>
      </p:sp>
    </p:spTree>
    <p:extLst>
      <p:ext uri="{BB962C8B-B14F-4D97-AF65-F5344CB8AC3E}">
        <p14:creationId xmlns:p14="http://schemas.microsoft.com/office/powerpoint/2010/main" val="1571549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60642CF0-3192-782A-257E-2C4E5105A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C98C40EC-39F5-12AD-CE27-FCD64D991C6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Input Representation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DE682EF9-4CFE-4D96-4041-3526E21C69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noProof="0" dirty="0"/>
              <a:t>A Transformer does not operate on </a:t>
            </a:r>
            <a:r>
              <a:rPr lang="en-GB" b="1" noProof="0" dirty="0"/>
              <a:t>raw inputs </a:t>
            </a:r>
            <a:r>
              <a:rPr lang="en-GB" noProof="0" dirty="0"/>
              <a:t>(characters, pixels, samples)</a:t>
            </a:r>
          </a:p>
          <a:p>
            <a:pPr lvl="1"/>
            <a:r>
              <a:rPr lang="en-GB" noProof="0" dirty="0"/>
              <a:t>Its input is a sequence of N </a:t>
            </a:r>
            <a:r>
              <a:rPr lang="en-GB" b="1" noProof="0" dirty="0"/>
              <a:t>tokens</a:t>
            </a:r>
            <a:r>
              <a:rPr lang="en-GB" noProof="0" dirty="0"/>
              <a:t>, each represented by a vector of size D</a:t>
            </a:r>
          </a:p>
          <a:p>
            <a:pPr lvl="1"/>
            <a:r>
              <a:rPr lang="en-GB" noProof="0" dirty="0"/>
              <a:t>Stacking row-wise gives the matrix X with shape (N, D)</a:t>
            </a:r>
          </a:p>
          <a:p>
            <a:pPr lvl="1"/>
            <a:endParaRPr lang="en-GB" dirty="0"/>
          </a:p>
          <a:p>
            <a:pPr lvl="1"/>
            <a:endParaRPr lang="en-GB" noProof="0" dirty="0"/>
          </a:p>
          <a:p>
            <a:pPr lvl="1"/>
            <a:endParaRPr lang="en-GB" dirty="0"/>
          </a:p>
          <a:p>
            <a:pPr lvl="1"/>
            <a:endParaRPr lang="en-GB" noProof="0" dirty="0"/>
          </a:p>
          <a:p>
            <a:pPr lvl="1"/>
            <a:endParaRPr lang="en-GB" dirty="0"/>
          </a:p>
          <a:p>
            <a:pPr lvl="1"/>
            <a:endParaRPr lang="en-GB" noProof="0" dirty="0"/>
          </a:p>
          <a:p>
            <a:endParaRPr lang="en-GB" noProof="0" dirty="0"/>
          </a:p>
          <a:p>
            <a:r>
              <a:rPr lang="en-GB" noProof="0" dirty="0"/>
              <a:t>Unlike MLPs, each row is </a:t>
            </a:r>
            <a:r>
              <a:rPr lang="en-GB" b="1" noProof="0" dirty="0"/>
              <a:t>a token within a single example</a:t>
            </a:r>
            <a:r>
              <a:rPr lang="en-GB" noProof="0" dirty="0"/>
              <a:t>, columns are </a:t>
            </a:r>
            <a:r>
              <a:rPr lang="en-GB" b="1" noProof="0" dirty="0"/>
              <a:t>coordinates in a learned representation space</a:t>
            </a:r>
            <a:endParaRPr lang="en-GB" noProof="0" dirty="0"/>
          </a:p>
          <a:p>
            <a:endParaRPr lang="en-GB" noProof="0" dirty="0"/>
          </a:p>
          <a:p>
            <a:r>
              <a:rPr lang="en-GB" noProof="0" dirty="0"/>
              <a:t>All modality-specific structure must be handled before this stage: </a:t>
            </a:r>
            <a:r>
              <a:rPr lang="en-GB" b="1" noProof="0" dirty="0"/>
              <a:t>tokenization</a:t>
            </a:r>
            <a:endParaRPr lang="en-GB" noProof="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E4354C8-7A13-DD45-CABB-76E9E2B26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265" y="2503457"/>
            <a:ext cx="4810485" cy="22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978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5AAF86F2-644B-FC98-0393-4DDED0521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9EB20455-A748-8270-5A9A-F01120B0E2B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Tokenization: text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77C4B4C5-207A-207A-70C5-25451A667F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105445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noProof="0" dirty="0"/>
              <a:t>In text, the natural choice is to split a sentence into </a:t>
            </a:r>
            <a:r>
              <a:rPr lang="en-GB" b="1" noProof="0" dirty="0"/>
              <a:t>words</a:t>
            </a:r>
            <a:endParaRPr lang="en-GB" noProof="0" dirty="0"/>
          </a:p>
          <a:p>
            <a:pPr lvl="1"/>
            <a:r>
              <a:rPr lang="en-GB" noProof="0" dirty="0"/>
              <a:t>Each token is mapped to an integer index drawn from a fixed vocabulary</a:t>
            </a:r>
          </a:p>
          <a:p>
            <a:pPr lvl="1"/>
            <a:r>
              <a:rPr lang="en-GB" noProof="0" dirty="0"/>
              <a:t>From this point onward the model sees only sequences of discrete identifiers</a:t>
            </a:r>
            <a:endParaRPr lang="en-GB" b="1" noProof="0" dirty="0"/>
          </a:p>
          <a:p>
            <a:pPr marL="590550" lvl="1" indent="0">
              <a:buNone/>
            </a:pPr>
            <a:endParaRPr lang="en-GB" noProof="0" dirty="0"/>
          </a:p>
          <a:p>
            <a:pPr lvl="1"/>
            <a:endParaRPr lang="en-GB" noProof="0" dirty="0"/>
          </a:p>
          <a:p>
            <a:pPr lvl="1"/>
            <a:endParaRPr lang="en-GB" dirty="0"/>
          </a:p>
          <a:p>
            <a:pPr lvl="1"/>
            <a:endParaRPr lang="en-GB" noProof="0" dirty="0"/>
          </a:p>
          <a:p>
            <a:pPr lvl="1"/>
            <a:endParaRPr lang="en-GB" dirty="0"/>
          </a:p>
          <a:p>
            <a:pPr lvl="1"/>
            <a:endParaRPr lang="en-GB" noProof="0" dirty="0"/>
          </a:p>
          <a:p>
            <a:pPr lvl="1"/>
            <a:endParaRPr lang="en-GB" dirty="0"/>
          </a:p>
          <a:p>
            <a:pPr lvl="1"/>
            <a:endParaRPr lang="en-GB" noProof="0" dirty="0"/>
          </a:p>
          <a:p>
            <a:pPr lvl="1"/>
            <a:endParaRPr lang="en-GB" dirty="0"/>
          </a:p>
          <a:p>
            <a:r>
              <a:rPr lang="en-GB" dirty="0"/>
              <a:t>Better in practice: </a:t>
            </a:r>
            <a:r>
              <a:rPr lang="en-GB" b="1" dirty="0" err="1"/>
              <a:t>subword</a:t>
            </a:r>
            <a:r>
              <a:rPr lang="en-GB" dirty="0"/>
              <a:t> tokenization, decomposes words into smaller fragments</a:t>
            </a:r>
            <a:endParaRPr lang="en-GB" noProof="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64C94CC2-264F-C342-8BBC-8A1E85AAF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810" y="2482760"/>
            <a:ext cx="2902416" cy="12348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C7886EF-2863-CAE6-188F-C6A8B8D1E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810" y="3992335"/>
            <a:ext cx="7581900" cy="26670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BE23FA70-5F22-3C89-418A-46A7F5878A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810" y="4487955"/>
            <a:ext cx="3136000" cy="806400"/>
          </a:xfrm>
          <a:prstGeom prst="rect">
            <a:avLst/>
          </a:prstGeom>
        </p:spPr>
      </p:pic>
      <p:pic>
        <p:nvPicPr>
          <p:cNvPr id="12" name="Immagine 11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2034D974-20B7-5CBE-1BAC-5BF22F3D5C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345" y="2482760"/>
            <a:ext cx="270870" cy="32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408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F8B622B1-BBB8-9ED6-3098-290C97706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BAD8B7D6-C88E-56DB-F0D8-4D04C0971B8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Tokenization: Images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E00E2C1F-A644-5B46-F831-3B39935C64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105445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noProof="0" dirty="0"/>
              <a:t>An image is tokenized by </a:t>
            </a:r>
            <a:r>
              <a:rPr lang="en-GB" b="1" noProof="0" dirty="0"/>
              <a:t>dividing it into non-overlapping patches </a:t>
            </a:r>
            <a:r>
              <a:rPr lang="en-GB" noProof="0" dirty="0"/>
              <a:t>of size P×P</a:t>
            </a:r>
          </a:p>
          <a:p>
            <a:pPr lvl="1"/>
            <a:r>
              <a:rPr lang="en-GB" noProof="0" dirty="0"/>
              <a:t>Each patch contains C channels (e.g. 3 for RGB).</a:t>
            </a:r>
          </a:p>
          <a:p>
            <a:pPr lvl="1"/>
            <a:r>
              <a:rPr lang="en-GB" noProof="0" dirty="0"/>
              <a:t>Flattening yields a vector of length C×P×P per patch</a:t>
            </a:r>
          </a:p>
          <a:p>
            <a:pPr lvl="1"/>
            <a:r>
              <a:rPr lang="en-GB" noProof="0" dirty="0"/>
              <a:t>Output shape: (B, N, C×P×P)  where  N = (H/P)×(W/P)</a:t>
            </a:r>
          </a:p>
          <a:p>
            <a:pPr lvl="1"/>
            <a:endParaRPr lang="en-GB" dirty="0"/>
          </a:p>
          <a:p>
            <a:pPr lvl="1"/>
            <a:endParaRPr lang="en-GB" noProof="0" dirty="0"/>
          </a:p>
          <a:p>
            <a:pPr lvl="1"/>
            <a:endParaRPr lang="en-GB" dirty="0"/>
          </a:p>
          <a:p>
            <a:pPr lvl="1"/>
            <a:endParaRPr lang="en-GB" noProof="0" dirty="0"/>
          </a:p>
          <a:p>
            <a:pPr lvl="1"/>
            <a:endParaRPr lang="en-GB" dirty="0"/>
          </a:p>
          <a:p>
            <a:pPr lvl="1"/>
            <a:endParaRPr lang="en-GB" noProof="0" dirty="0"/>
          </a:p>
          <a:p>
            <a:pPr lvl="1"/>
            <a:endParaRPr lang="en-GB" dirty="0"/>
          </a:p>
          <a:p>
            <a:r>
              <a:rPr lang="en-GB" noProof="0" dirty="0"/>
              <a:t>Example: P=16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0149C502-18E2-4349-A18B-44013B048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98" y="2666433"/>
            <a:ext cx="7335602" cy="231996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95B6C65-8A51-FD8C-D0AB-D1A974CE6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98" y="5752555"/>
            <a:ext cx="3835400" cy="533400"/>
          </a:xfrm>
          <a:prstGeom prst="rect">
            <a:avLst/>
          </a:prstGeom>
        </p:spPr>
      </p:pic>
      <p:pic>
        <p:nvPicPr>
          <p:cNvPr id="6" name="Immagine 5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4E5A9B6D-E68A-EE13-1C32-1EA7A6DC7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00" y="5299277"/>
            <a:ext cx="270870" cy="32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64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5B25AFC7-FDD9-2C39-7C98-BB04459D8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1E663122-3F51-5801-90FF-F96A851D78A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Tokenization: Audio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31CE1C1D-C37C-0D66-63B3-354266B268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105445"/>
            <a:ext cx="8818500" cy="54912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noProof="0" dirty="0"/>
              <a:t>An audio waveform is long and continuous; there is </a:t>
            </a:r>
            <a:r>
              <a:rPr lang="en-GB" b="1" noProof="0" dirty="0"/>
              <a:t>no natural notion of token</a:t>
            </a:r>
            <a:r>
              <a:rPr lang="en-GB" noProof="0" dirty="0"/>
              <a:t> boundaries</a:t>
            </a:r>
          </a:p>
          <a:p>
            <a:r>
              <a:rPr lang="en-GB" noProof="0" dirty="0"/>
              <a:t>Tokenization requires imposing a </a:t>
            </a:r>
            <a:r>
              <a:rPr lang="en-GB" b="1" noProof="0" dirty="0"/>
              <a:t>segmentation in time</a:t>
            </a:r>
          </a:p>
          <a:p>
            <a:r>
              <a:rPr lang="en-GB" noProof="0" dirty="0"/>
              <a:t>Simplest approach: </a:t>
            </a:r>
            <a:r>
              <a:rPr lang="en-GB" b="1" noProof="0" dirty="0"/>
              <a:t>framing</a:t>
            </a:r>
            <a:r>
              <a:rPr lang="en-GB" noProof="0" dirty="0"/>
              <a:t>, partition the signal into segments of length L, sliding by hop H</a:t>
            </a:r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noProof="0" dirty="0"/>
          </a:p>
          <a:p>
            <a:r>
              <a:rPr lang="en-GB" noProof="0" dirty="0"/>
              <a:t>If H=L the frames do not overlap; if H&lt;L frames share part of the signal</a:t>
            </a:r>
          </a:p>
          <a:p>
            <a:endParaRPr lang="en-GB" noProof="0" dirty="0"/>
          </a:p>
          <a:p>
            <a:r>
              <a:rPr lang="en-GB" noProof="0" dirty="0"/>
              <a:t>Alternative: tokenize a time–frequency representation (</a:t>
            </a:r>
            <a:r>
              <a:rPr lang="en-GB" b="1" noProof="0" dirty="0"/>
              <a:t>spectrogram</a:t>
            </a:r>
            <a:r>
              <a:rPr lang="en-GB" noProof="0" dirty="0"/>
              <a:t>), then treat it like an image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FD90BF0-0764-5201-E6E6-33C886DF8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17800"/>
            <a:ext cx="7772400" cy="253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056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F30154E5-4F8F-B5EC-CDF1-C16350007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0D98FAB6-29A7-2320-5C60-DA8B1E2C6CE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Embeddings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C9F7BE9C-B050-E817-0EA5-2A3A2629AC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156813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noProof="0" dirty="0"/>
              <a:t>Tokenization provides a collection of </a:t>
            </a:r>
            <a:r>
              <a:rPr lang="en-GB" b="1" noProof="0" dirty="0"/>
              <a:t>discrete symbolic units</a:t>
            </a:r>
            <a:r>
              <a:rPr lang="en-GB" noProof="0" dirty="0"/>
              <a:t>, but these units are </a:t>
            </a:r>
            <a:r>
              <a:rPr lang="en-GB" b="1" noProof="0" dirty="0"/>
              <a:t>not yet suitable for numerical computation</a:t>
            </a:r>
            <a:r>
              <a:rPr lang="en-GB" noProof="0" dirty="0"/>
              <a:t>. </a:t>
            </a:r>
          </a:p>
          <a:p>
            <a:r>
              <a:rPr lang="en-GB" noProof="0" dirty="0"/>
              <a:t>The role of embeddings is to </a:t>
            </a:r>
            <a:r>
              <a:rPr lang="en-GB" b="1" noProof="0" dirty="0"/>
              <a:t>map each token into a vector</a:t>
            </a:r>
            <a:r>
              <a:rPr lang="en-GB" noProof="0" dirty="0"/>
              <a:t> in a </a:t>
            </a:r>
            <a:r>
              <a:rPr lang="en-GB" b="1" noProof="0" dirty="0"/>
              <a:t>shared D-dimensional space</a:t>
            </a:r>
            <a:r>
              <a:rPr lang="en-GB" noProof="0" dirty="0"/>
              <a:t> </a:t>
            </a:r>
          </a:p>
          <a:p>
            <a:endParaRPr lang="en-GB" dirty="0"/>
          </a:p>
          <a:p>
            <a:endParaRPr lang="en-GB" noProof="0" dirty="0"/>
          </a:p>
          <a:p>
            <a:r>
              <a:rPr lang="en-GB" noProof="0" dirty="0"/>
              <a:t>Applying this mapping to the tokens produced during tokenization yields the </a:t>
            </a:r>
            <a:r>
              <a:rPr lang="en-GB" b="1" noProof="0" dirty="0"/>
              <a:t>input representation matrix</a:t>
            </a:r>
            <a:r>
              <a:rPr lang="en-GB" noProof="0" dirty="0"/>
              <a:t>:</a:t>
            </a:r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r>
              <a:rPr lang="en-GB" dirty="0"/>
              <a:t>K</a:t>
            </a:r>
            <a:r>
              <a:rPr lang="en-GB" noProof="0" dirty="0" err="1"/>
              <a:t>ey</a:t>
            </a:r>
            <a:r>
              <a:rPr lang="en-GB" noProof="0" dirty="0"/>
              <a:t> point: embeddings do not merely encode tokens; they </a:t>
            </a:r>
            <a:r>
              <a:rPr lang="en-GB" b="1" noProof="0" dirty="0"/>
              <a:t>define the geometry</a:t>
            </a:r>
            <a:r>
              <a:rPr lang="en-GB" noProof="0" dirty="0"/>
              <a:t> in which it is possible </a:t>
            </a:r>
            <a:r>
              <a:rPr lang="en-GB" b="1" noProof="0" dirty="0"/>
              <a:t>to measure compatibility</a:t>
            </a:r>
            <a:endParaRPr lang="en-GB" b="1" dirty="0"/>
          </a:p>
          <a:p>
            <a:pPr lvl="1"/>
            <a:r>
              <a:rPr lang="en-GB" noProof="0" dirty="0"/>
              <a:t>two tokens with similar embeddings, can easily considered similar 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C0AE518-4BB3-1F71-7E33-BBF186786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86" y="2495869"/>
            <a:ext cx="1879600" cy="4445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576AD9E5-C87C-7634-520E-583AEC954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86" y="3768928"/>
            <a:ext cx="2440237" cy="146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260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7FDBCB50-976B-50F5-68EC-511476437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8E77ECFF-A03C-9910-C9E2-FC6DFE17B4D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Attention (1)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4E3DF2A1-84DB-2C72-4989-F45FB6FF2B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078550"/>
            <a:ext cx="8818500" cy="54701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noProof="0" dirty="0"/>
              <a:t>Every architecture we have discussed relied (explicitly or implicitly) on the assumption that the </a:t>
            </a:r>
            <a:r>
              <a:rPr lang="en-GB" b="1" noProof="0" dirty="0"/>
              <a:t>input lives in a fixed, well-defined shape</a:t>
            </a:r>
            <a:r>
              <a:rPr lang="en-GB" noProof="0" dirty="0"/>
              <a:t>.</a:t>
            </a:r>
          </a:p>
          <a:p>
            <a:pPr lvl="1"/>
            <a:r>
              <a:rPr lang="en-GB" noProof="0" dirty="0"/>
              <a:t>In ImageNet classification, we resize or crop images to 224x224 pixels</a:t>
            </a:r>
          </a:p>
          <a:p>
            <a:pPr lvl="1"/>
            <a:r>
              <a:rPr lang="en-GB" noProof="0" dirty="0"/>
              <a:t>In time-series forecasting, an RNN is fed windows of a predetermined length, so "how much past" the model sees is fixed in advance</a:t>
            </a:r>
          </a:p>
          <a:p>
            <a:pPr lvl="1"/>
            <a:endParaRPr lang="en-GB" noProof="0" dirty="0"/>
          </a:p>
          <a:p>
            <a:r>
              <a:rPr lang="en-GB" noProof="0" dirty="0"/>
              <a:t>This design choice is convenient, but it becomes </a:t>
            </a:r>
            <a:r>
              <a:rPr lang="en-GB" b="1" noProof="0" dirty="0"/>
              <a:t>a bottleneck when the input is genuinely variable in size and in information content</a:t>
            </a:r>
            <a:r>
              <a:rPr lang="en-GB" noProof="0" dirty="0"/>
              <a:t>. </a:t>
            </a:r>
          </a:p>
          <a:p>
            <a:r>
              <a:rPr lang="en-GB" noProof="0" dirty="0"/>
              <a:t>When sequences get long, the difficulty is not merely computational, it is </a:t>
            </a:r>
            <a:r>
              <a:rPr lang="en-GB" b="1" noProof="0" dirty="0"/>
              <a:t>conceptual</a:t>
            </a:r>
            <a:endParaRPr lang="en-GB" b="1" dirty="0"/>
          </a:p>
          <a:p>
            <a:pPr lvl="1"/>
            <a:r>
              <a:rPr lang="en-GB" noProof="0" dirty="0"/>
              <a:t>the model must decide what to retain</a:t>
            </a:r>
          </a:p>
          <a:p>
            <a:pPr lvl="1"/>
            <a:r>
              <a:rPr lang="en-GB" noProof="0" dirty="0"/>
              <a:t>what to forget</a:t>
            </a:r>
          </a:p>
          <a:p>
            <a:pPr lvl="1"/>
            <a:r>
              <a:rPr lang="en-GB" noProof="0" dirty="0"/>
              <a:t>how to access something it saw many steps ago</a:t>
            </a:r>
          </a:p>
          <a:p>
            <a:pPr lvl="1"/>
            <a:endParaRPr lang="en-GB" noProof="0" dirty="0"/>
          </a:p>
          <a:p>
            <a:r>
              <a:rPr lang="en-GB" noProof="0" dirty="0"/>
              <a:t>Keeping track of "</a:t>
            </a:r>
            <a:r>
              <a:rPr lang="en-GB" b="1" noProof="0" dirty="0"/>
              <a:t>everything so far</a:t>
            </a:r>
            <a:r>
              <a:rPr lang="en-GB" noProof="0" dirty="0"/>
              <a:t>" becomes increasingly fragile as the context grows</a:t>
            </a:r>
          </a:p>
          <a:p>
            <a:pPr marL="120650" indent="0">
              <a:buNone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59110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6AD1E93A-D3F1-74CE-3F25-F18482E82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C17E13D6-7883-4039-6522-4CD8EF7006A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Attention (2)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9B55A831-E79D-69F6-79AD-4713F73F0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957528"/>
            <a:ext cx="8818500" cy="56449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noProof="0" dirty="0"/>
              <a:t>What we need is a mechanism that can </a:t>
            </a:r>
            <a:r>
              <a:rPr lang="en-GB" b="1" noProof="0" dirty="0"/>
              <a:t>selectively read from a large collection of information</a:t>
            </a:r>
            <a:endParaRPr lang="en-GB" b="1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the amount of stored data can grow arbitrarily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the way we access it remains stable and efficient </a:t>
            </a:r>
          </a:p>
          <a:p>
            <a:r>
              <a:rPr lang="en-GB" noProof="0" dirty="0"/>
              <a:t>A natural place to look is the </a:t>
            </a:r>
            <a:r>
              <a:rPr lang="en-GB" b="1" noProof="0" dirty="0"/>
              <a:t>abstraction of a database</a:t>
            </a:r>
            <a:endParaRPr lang="en-GB" b="1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a collection of </a:t>
            </a:r>
            <a:r>
              <a:rPr lang="en-GB" b="1" noProof="0" dirty="0"/>
              <a:t>items</a:t>
            </a:r>
            <a:r>
              <a:rPr lang="en-GB" noProof="0" dirty="0"/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each addressed by a </a:t>
            </a:r>
            <a:r>
              <a:rPr lang="en-GB" b="1" noProof="0" dirty="0"/>
              <a:t>key</a:t>
            </a:r>
            <a:r>
              <a:rPr lang="en-GB" noProof="0" dirty="0"/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and carrying a </a:t>
            </a:r>
            <a:r>
              <a:rPr lang="en-GB" b="1" noProof="0" dirty="0"/>
              <a:t>value</a:t>
            </a:r>
            <a:endParaRPr lang="en-GB" noProof="0" dirty="0"/>
          </a:p>
          <a:p>
            <a:r>
              <a:rPr lang="en-GB" noProof="0" dirty="0"/>
              <a:t>We operate on the database by issuing a </a:t>
            </a:r>
            <a:r>
              <a:rPr lang="en-GB" b="1" noProof="0" dirty="0"/>
              <a:t>query</a:t>
            </a:r>
            <a:endParaRPr lang="en-GB" b="1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b="1" noProof="0" dirty="0"/>
              <a:t>Exact query</a:t>
            </a:r>
            <a:r>
              <a:rPr lang="en-GB" noProof="0" dirty="0"/>
              <a:t> to retrieve a specific entry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b="1" noProof="0" dirty="0"/>
              <a:t>Approximate query</a:t>
            </a:r>
            <a:r>
              <a:rPr lang="en-GB" noProof="0" dirty="0"/>
              <a:t> to retrieve all entries whose key start with a given prefix</a:t>
            </a:r>
            <a:endParaRPr lang="en-GB" dirty="0"/>
          </a:p>
          <a:p>
            <a:r>
              <a:rPr lang="en-GB" dirty="0"/>
              <a:t>Example:</a:t>
            </a:r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r>
              <a:rPr lang="en-GB" noProof="0" dirty="0"/>
              <a:t>We can imagine </a:t>
            </a:r>
            <a:r>
              <a:rPr lang="en-GB" b="1" noProof="0" dirty="0"/>
              <a:t>more complex queries</a:t>
            </a:r>
            <a:r>
              <a:rPr lang="en-GB" b="1" dirty="0"/>
              <a:t> </a:t>
            </a:r>
          </a:p>
          <a:p>
            <a:r>
              <a:rPr lang="en-GB" dirty="0"/>
              <a:t>C</a:t>
            </a:r>
            <a:r>
              <a:rPr lang="en-GB" noProof="0" dirty="0" err="1"/>
              <a:t>rucial</a:t>
            </a:r>
            <a:r>
              <a:rPr lang="en-GB" noProof="0" dirty="0"/>
              <a:t> point: </a:t>
            </a:r>
            <a:r>
              <a:rPr lang="en-GB" b="1" noProof="0" dirty="0"/>
              <a:t>database size can vary </a:t>
            </a:r>
            <a:r>
              <a:rPr lang="en-GB" noProof="0" dirty="0"/>
              <a:t>(we can add or remove entries), however the </a:t>
            </a:r>
            <a:r>
              <a:rPr lang="en-GB" b="1" noProof="0" dirty="0"/>
              <a:t>query mechanism is stable</a:t>
            </a:r>
            <a:r>
              <a:rPr lang="en-GB" noProof="0" dirty="0"/>
              <a:t> (we do not need to change the way we query it)</a:t>
            </a:r>
            <a:br>
              <a:rPr lang="en-GB" noProof="0" dirty="0"/>
            </a:br>
            <a:endParaRPr lang="en-GB" b="1" noProof="0" dirty="0"/>
          </a:p>
          <a:p>
            <a:pPr marL="590550" lvl="1" indent="0">
              <a:buNone/>
            </a:pPr>
            <a:endParaRPr lang="en-GB" noProof="0" dirty="0"/>
          </a:p>
          <a:p>
            <a:pPr lvl="1"/>
            <a:endParaRPr lang="en-GB" noProof="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0905D9A7-C97E-B753-6327-44728A548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430" y="2485304"/>
            <a:ext cx="3875367" cy="46504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6433B2D-E66C-D815-EA77-CC5C2FFBF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96" y="4162392"/>
            <a:ext cx="2135087" cy="1287655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939212E4-61E3-224B-2FA6-25C3627C81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3131" y="4856964"/>
            <a:ext cx="6187966" cy="616774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3A5424A6-4089-F3AB-3658-40AA6A8B99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3131" y="4162392"/>
            <a:ext cx="2014795" cy="61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11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D0260F4F-62BD-CE59-7835-E9AADBE85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931B6AD6-E03D-C88A-5BD4-C2BAC9BEC65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Attention (3)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901306B7-87A1-3C14-3DB4-D58E0C857A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noProof="0" dirty="0"/>
              <a:t>We can formulate a query as an operation on key–value pairs in a way that does </a:t>
            </a:r>
            <a:r>
              <a:rPr lang="en-GB" b="1" noProof="0" dirty="0"/>
              <a:t>not depend on the database size</a:t>
            </a:r>
            <a:endParaRPr lang="en-GB" b="1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T</a:t>
            </a:r>
            <a:r>
              <a:rPr lang="en-GB" noProof="0" dirty="0"/>
              <a:t>he same mathematical object makes sense whether the database contains a handful of items or millions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noProof="0" dirty="0"/>
          </a:p>
          <a:p>
            <a:r>
              <a:rPr lang="en-GB" noProof="0" dirty="0"/>
              <a:t>The </a:t>
            </a:r>
            <a:r>
              <a:rPr lang="en-GB" b="1" noProof="0" dirty="0"/>
              <a:t>same query can produce different outputs</a:t>
            </a:r>
            <a:endParaRPr lang="en-GB" b="1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T</a:t>
            </a:r>
            <a:r>
              <a:rPr lang="en-GB" noProof="0" dirty="0"/>
              <a:t>he answer is not "hard-coded" in the procedure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It </a:t>
            </a:r>
            <a:r>
              <a:rPr lang="en-GB" noProof="0" dirty="0"/>
              <a:t>is induced by the current contents of the database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noProof="0" dirty="0"/>
          </a:p>
          <a:p>
            <a:r>
              <a:rPr lang="en-GB" noProof="0" dirty="0"/>
              <a:t>Operating over an </a:t>
            </a:r>
            <a:r>
              <a:rPr lang="en-GB" b="1" noProof="0" dirty="0"/>
              <a:t>enormous state space does not require complicated code</a:t>
            </a:r>
            <a:r>
              <a:rPr lang="en-GB" noProof="0" dirty="0"/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T</a:t>
            </a:r>
            <a:r>
              <a:rPr lang="en-GB" noProof="0" dirty="0"/>
              <a:t>he mechanism can be as elementary as exact lookup or approximate matching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T</a:t>
            </a:r>
            <a:r>
              <a:rPr lang="en-GB" noProof="0" dirty="0"/>
              <a:t>he complexity is pushed into the representation and the similarity score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noProof="0" dirty="0"/>
          </a:p>
          <a:p>
            <a:r>
              <a:rPr lang="en-GB" noProof="0" dirty="0"/>
              <a:t>None of this requires </a:t>
            </a:r>
            <a:r>
              <a:rPr lang="en-GB" b="1" noProof="0" dirty="0"/>
              <a:t>compressing or simplifying the database</a:t>
            </a:r>
            <a:endParaRPr lang="en-GB" noProof="0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we can keep a large collection of stored information and still read from it effectively by learning how to address it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noProof="0" dirty="0"/>
          </a:p>
          <a:p>
            <a:r>
              <a:rPr lang="en-GB" noProof="0" dirty="0"/>
              <a:t>This perspective leads directly to one of the most influential architectural ideas of the last decade: the </a:t>
            </a:r>
            <a:r>
              <a:rPr lang="en-GB" b="1" noProof="0" dirty="0"/>
              <a:t>attention mechanism</a:t>
            </a:r>
          </a:p>
          <a:p>
            <a:pPr marL="590550" lvl="1" indent="0">
              <a:buNone/>
            </a:pPr>
            <a:endParaRPr lang="en-GB" noProof="0" dirty="0"/>
          </a:p>
          <a:p>
            <a:pPr lvl="1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42413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624568F5-129C-DFE7-5B19-02D5BBD5F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F07DC4E0-E9A7-395C-47E9-2CF29C939EF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Attention pooling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188AC923-15FF-0A13-9FA9-904B57D7C4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011701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noProof="0" dirty="0"/>
              <a:t>The term </a:t>
            </a:r>
            <a:r>
              <a:rPr lang="en-GB" b="1" noProof="0" dirty="0"/>
              <a:t>attention</a:t>
            </a:r>
            <a:r>
              <a:rPr lang="en-GB" noProof="0" dirty="0"/>
              <a:t> is natural: we assign large weights only to a subset of entries, and the output is dominated by the corresponding values, those are the items the model is effectively "</a:t>
            </a:r>
            <a:r>
              <a:rPr lang="en-GB" b="1" noProof="0" dirty="0"/>
              <a:t>paying attention</a:t>
            </a:r>
            <a:r>
              <a:rPr lang="en-GB" noProof="0" dirty="0"/>
              <a:t>" to</a:t>
            </a:r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pPr marL="120650" indent="0">
              <a:buNone/>
            </a:pPr>
            <a:endParaRPr lang="en-GB" dirty="0"/>
          </a:p>
          <a:p>
            <a:endParaRPr lang="en-GB" noProof="0" dirty="0"/>
          </a:p>
          <a:p>
            <a:r>
              <a:rPr lang="en-GB" b="1" noProof="0" dirty="0"/>
              <a:t>Nonnegativity</a:t>
            </a:r>
            <a:r>
              <a:rPr lang="en-GB" noProof="0" dirty="0"/>
              <a:t> constraint:</a:t>
            </a:r>
          </a:p>
          <a:p>
            <a:endParaRPr lang="en-GB" noProof="0" dirty="0"/>
          </a:p>
          <a:p>
            <a:r>
              <a:rPr lang="en-GB" b="1" dirty="0"/>
              <a:t>Sum-to-one </a:t>
            </a:r>
            <a:r>
              <a:rPr lang="en-GB" dirty="0"/>
              <a:t>constraint:</a:t>
            </a:r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pPr marL="120650" indent="0">
              <a:buNone/>
            </a:pPr>
            <a:br>
              <a:rPr lang="en-GB" noProof="0" dirty="0"/>
            </a:br>
            <a:endParaRPr lang="en-GB" b="1" noProof="0" dirty="0"/>
          </a:p>
          <a:p>
            <a:pPr marL="590550" lvl="1" indent="0">
              <a:buNone/>
            </a:pPr>
            <a:endParaRPr lang="en-GB" noProof="0" dirty="0"/>
          </a:p>
          <a:p>
            <a:pPr lvl="1"/>
            <a:endParaRPr lang="en-GB" noProof="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C980228-4FAE-5F70-225A-7EEC111A3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43" y="2018581"/>
            <a:ext cx="5779622" cy="3075811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CCB58B0-B793-C972-EE0A-AF6DAF9B5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916" y="2908674"/>
            <a:ext cx="2451100" cy="8255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FF77054-34D3-73D1-42DC-5C7D4BDE1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8850" y="5225082"/>
            <a:ext cx="2146300" cy="45720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378DEF06-314D-EED0-7C73-5D057C7212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0307" y="5639261"/>
            <a:ext cx="1674166" cy="8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431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ABA575FA-FD4D-9A02-728F-2DB8D7BE5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43574460-0C26-1DEE-7303-DEBA5F815FE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Scoring functions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7DA77C02-88C0-4F45-AD92-3E0238BA57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105445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noProof="0" dirty="0"/>
              <a:t>An attention layer is essentially determined once we specify </a:t>
            </a:r>
            <a:r>
              <a:rPr lang="en-GB" b="1" noProof="0" dirty="0"/>
              <a:t>how to measure the compatibility between a query and a key</a:t>
            </a:r>
            <a:endParaRPr lang="en-GB" b="1" dirty="0"/>
          </a:p>
          <a:p>
            <a:endParaRPr lang="en-GB" b="1" noProof="0" dirty="0"/>
          </a:p>
          <a:p>
            <a:endParaRPr lang="en-GB" b="1" dirty="0"/>
          </a:p>
          <a:p>
            <a:endParaRPr lang="en-GB" b="1" noProof="0" dirty="0"/>
          </a:p>
          <a:p>
            <a:endParaRPr lang="en-GB" b="1" dirty="0"/>
          </a:p>
          <a:p>
            <a:endParaRPr lang="en-GB" b="1" noProof="0" dirty="0"/>
          </a:p>
          <a:p>
            <a:endParaRPr lang="en-GB" b="1" dirty="0"/>
          </a:p>
          <a:p>
            <a:endParaRPr lang="en-GB" b="1" noProof="0" dirty="0"/>
          </a:p>
          <a:p>
            <a:endParaRPr lang="en-GB" b="1" dirty="0"/>
          </a:p>
          <a:p>
            <a:endParaRPr lang="en-GB" b="1" noProof="0" dirty="0"/>
          </a:p>
          <a:p>
            <a:endParaRPr lang="en-GB" b="1" dirty="0"/>
          </a:p>
          <a:p>
            <a:endParaRPr lang="en-GB" noProof="0" dirty="0"/>
          </a:p>
          <a:p>
            <a:pPr marL="590550" lvl="1" indent="0">
              <a:buNone/>
            </a:pPr>
            <a:endParaRPr lang="en-GB" noProof="0" dirty="0"/>
          </a:p>
          <a:p>
            <a:pPr lvl="1"/>
            <a:endParaRPr lang="en-GB" noProof="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80082223-9036-114F-59ED-9A6774AE5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72" y="2025263"/>
            <a:ext cx="8689328" cy="441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066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431CBE9A-7175-C405-14D8-B6752DEBF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D8F1C5FF-6EDF-1257-2621-BDBC528352F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Distance-based scoring (1)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F422F165-57F8-940A-3DF2-03B826EB31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105445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noProof="0" dirty="0"/>
              <a:t>A conceptually simple way to build such a score is to start from </a:t>
            </a:r>
            <a:r>
              <a:rPr lang="en-GB" b="1" noProof="0" dirty="0"/>
              <a:t>distance</a:t>
            </a:r>
          </a:p>
          <a:p>
            <a:endParaRPr lang="en-GB" b="1" dirty="0"/>
          </a:p>
          <a:p>
            <a:pPr marL="120650" indent="0">
              <a:buNone/>
            </a:pPr>
            <a:endParaRPr lang="en-GB" b="1" noProof="0" dirty="0"/>
          </a:p>
          <a:p>
            <a:r>
              <a:rPr lang="en-GB" noProof="0" dirty="0"/>
              <a:t>This directly encodes the intuitive principle that </a:t>
            </a:r>
            <a:r>
              <a:rPr lang="en-GB" b="1" noProof="0" dirty="0"/>
              <a:t>closer means more relevant</a:t>
            </a:r>
            <a:r>
              <a:rPr lang="en-GB" noProof="0" dirty="0"/>
              <a:t>: keys located near the query in representation space receive larger scores and therefore larger attention weights.</a:t>
            </a:r>
          </a:p>
          <a:p>
            <a:r>
              <a:rPr lang="en-GB" noProof="0" dirty="0"/>
              <a:t>Computing distances is </a:t>
            </a:r>
            <a:r>
              <a:rPr lang="en-GB" dirty="0"/>
              <a:t>not </a:t>
            </a:r>
            <a:r>
              <a:rPr lang="en-GB" noProof="0" dirty="0"/>
              <a:t>hardware-friendly:</a:t>
            </a:r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pPr marL="120650" indent="0">
              <a:buNone/>
            </a:pPr>
            <a:endParaRPr lang="en-GB" noProof="0" dirty="0"/>
          </a:p>
          <a:p>
            <a:r>
              <a:rPr lang="en-GB" dirty="0"/>
              <a:t>The dot product has variance proportional to the dimensionality, so we use </a:t>
            </a:r>
            <a:r>
              <a:rPr lang="en-GB" b="1" dirty="0"/>
              <a:t>scaled dot-product score:</a:t>
            </a:r>
            <a:br>
              <a:rPr lang="en-GB" noProof="0" dirty="0"/>
            </a:br>
            <a:endParaRPr lang="en-GB" b="1" noProof="0" dirty="0"/>
          </a:p>
          <a:p>
            <a:pPr marL="590550" lvl="1" indent="0">
              <a:buNone/>
            </a:pPr>
            <a:endParaRPr lang="en-GB" noProof="0" dirty="0"/>
          </a:p>
          <a:p>
            <a:pPr lvl="1"/>
            <a:endParaRPr lang="en-GB" noProof="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F00C15C-76BC-4B90-5280-E4824E553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77" y="1572611"/>
            <a:ext cx="2082800" cy="45720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E72FF3B7-456E-AEBB-2025-BBFC004B7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187" y="5759967"/>
            <a:ext cx="1353600" cy="67680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5F94A71B-C686-909D-7340-C475390501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249" y="3278902"/>
            <a:ext cx="5271285" cy="175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294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D12FE4D4-9E89-5BEF-A464-928119AD9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7BDD0903-FD3C-C1F1-A721-ABEA855EF71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Generalized Distance-based scoring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C02C1533-1EC6-105D-1B9F-2720633A5D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105445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noProof="0" dirty="0"/>
              <a:t>We have assumed that queries and keys belong to the </a:t>
            </a:r>
            <a:r>
              <a:rPr lang="en-GB" b="1" noProof="0" dirty="0"/>
              <a:t>same vector space</a:t>
            </a:r>
            <a:r>
              <a:rPr lang="en-GB" noProof="0" dirty="0"/>
              <a:t>, meaning that they share the </a:t>
            </a:r>
            <a:r>
              <a:rPr lang="en-GB" b="1" noProof="0" dirty="0"/>
              <a:t>same dimensionality</a:t>
            </a:r>
            <a:endParaRPr lang="en-GB" b="1" dirty="0"/>
          </a:p>
          <a:p>
            <a:r>
              <a:rPr lang="en-GB" noProof="0" dirty="0"/>
              <a:t>While convenient, this assumption is not fundamental to the attention mechanism itself. </a:t>
            </a:r>
          </a:p>
          <a:p>
            <a:r>
              <a:rPr lang="en-GB" noProof="0" dirty="0"/>
              <a:t>In many practical settings, queries and keys naturally arise from </a:t>
            </a:r>
            <a:r>
              <a:rPr lang="en-GB" b="1" noProof="0" dirty="0"/>
              <a:t>different representations</a:t>
            </a:r>
            <a:r>
              <a:rPr lang="en-GB" noProof="0" dirty="0"/>
              <a:t> and may therefore have </a:t>
            </a:r>
            <a:r>
              <a:rPr lang="en-GB" b="1" noProof="0" dirty="0"/>
              <a:t>incompatible dimensions</a:t>
            </a:r>
            <a:r>
              <a:rPr lang="en-GB" noProof="0" dirty="0"/>
              <a:t>. </a:t>
            </a:r>
          </a:p>
          <a:p>
            <a:r>
              <a:rPr lang="en-GB" noProof="0" dirty="0"/>
              <a:t>A solution is to </a:t>
            </a:r>
            <a:r>
              <a:rPr lang="en-GB" b="1" noProof="0" dirty="0"/>
              <a:t>learn two linear projections </a:t>
            </a:r>
            <a:r>
              <a:rPr lang="en-GB" noProof="0" dirty="0"/>
              <a:t>that map queries and keys into a </a:t>
            </a:r>
            <a:r>
              <a:rPr lang="en-GB" b="1" noProof="0" dirty="0"/>
              <a:t>common latent space</a:t>
            </a:r>
            <a:r>
              <a:rPr lang="en-GB" noProof="0" dirty="0"/>
              <a:t> of dimension h</a:t>
            </a:r>
          </a:p>
          <a:p>
            <a:endParaRPr lang="en-GB" b="1" noProof="0" dirty="0"/>
          </a:p>
          <a:p>
            <a:pPr marL="590550" lvl="1" indent="0">
              <a:buNone/>
            </a:pPr>
            <a:endParaRPr lang="en-GB" noProof="0" dirty="0"/>
          </a:p>
          <a:p>
            <a:pPr lvl="1"/>
            <a:endParaRPr lang="en-GB" noProof="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67D986D8-46B4-DD95-BBC1-BC89197AE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05" y="3702714"/>
            <a:ext cx="2727692" cy="5400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AAA4263-E4CD-D49F-1B77-30BA4F343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228" y="4483076"/>
            <a:ext cx="2273300" cy="5715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2B326C2-FA1C-24C8-7F9A-3661D6D50F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105" y="5298162"/>
            <a:ext cx="30226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48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076377AA-2B12-864C-3273-EEA1D7A7D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4F2540DA-16F5-8E94-837E-1AFF682B151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Learnable scoring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26D1F9D0-6BAB-F790-2C69-54F87F5766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105445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Sc</a:t>
            </a:r>
            <a:r>
              <a:rPr lang="en-GB" noProof="0" dirty="0" err="1"/>
              <a:t>aled</a:t>
            </a:r>
            <a:r>
              <a:rPr lang="en-GB" noProof="0" dirty="0"/>
              <a:t> dot-product score is efficient and well-motivated, but </a:t>
            </a:r>
            <a:r>
              <a:rPr lang="en-GB" b="1" noProof="0" dirty="0"/>
              <a:t>it encodes a specific assumption</a:t>
            </a:r>
            <a:r>
              <a:rPr lang="en-GB" noProof="0" dirty="0"/>
              <a:t> about what "compatibility" means: </a:t>
            </a:r>
          </a:p>
          <a:p>
            <a:pPr lvl="1"/>
            <a:r>
              <a:rPr lang="en-GB" dirty="0"/>
              <a:t>T</a:t>
            </a:r>
            <a:r>
              <a:rPr lang="en-GB" noProof="0" dirty="0"/>
              <a:t>wo vectors are similar when they point in the same direction</a:t>
            </a:r>
          </a:p>
          <a:p>
            <a:pPr lvl="1"/>
            <a:r>
              <a:rPr lang="en-GB" noProof="0" dirty="0"/>
              <a:t>However, the relevant relationship is </a:t>
            </a:r>
            <a:r>
              <a:rPr lang="en-GB" b="1" noProof="0" dirty="0"/>
              <a:t>not necessarily geometric alignment</a:t>
            </a:r>
            <a:endParaRPr lang="en-GB" noProof="0" dirty="0"/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noProof="0" dirty="0"/>
              <a:t>scoring function itself can be a </a:t>
            </a:r>
            <a:r>
              <a:rPr lang="en-GB" b="1" noProof="0" dirty="0"/>
              <a:t>learnable component</a:t>
            </a:r>
            <a:r>
              <a:rPr lang="en-GB" noProof="0" dirty="0"/>
              <a:t>, one that can discover from data what "relevant" means for the task at hand. </a:t>
            </a:r>
          </a:p>
          <a:p>
            <a:r>
              <a:rPr lang="en-GB" noProof="0" dirty="0"/>
              <a:t>This is the idea behind the </a:t>
            </a:r>
            <a:r>
              <a:rPr lang="en-GB" b="1" noProof="0" dirty="0"/>
              <a:t>additive score</a:t>
            </a:r>
            <a:r>
              <a:rPr lang="en-GB" b="1" dirty="0"/>
              <a:t>:</a:t>
            </a:r>
            <a:r>
              <a:rPr lang="en-GB" noProof="0" dirty="0"/>
              <a:t> </a:t>
            </a:r>
          </a:p>
          <a:p>
            <a:pPr lvl="1"/>
            <a:r>
              <a:rPr lang="en-GB" noProof="0" dirty="0"/>
              <a:t>Rather than combining the projected query and key by multiplication</a:t>
            </a:r>
          </a:p>
          <a:p>
            <a:pPr lvl="1"/>
            <a:r>
              <a:rPr lang="en-GB" dirty="0"/>
              <a:t>W</a:t>
            </a:r>
            <a:r>
              <a:rPr lang="en-GB" noProof="0" dirty="0"/>
              <a:t>e sum them and then pass through a nonlinearity, letting a small learned function shape their interaction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This gives the mechanism </a:t>
            </a:r>
            <a:r>
              <a:rPr lang="en-GB" b="1" dirty="0"/>
              <a:t>greater expressive flexibility</a:t>
            </a:r>
            <a:r>
              <a:rPr lang="en-GB" dirty="0"/>
              <a:t>, since the notion of "match" is no longer restricted to correlations captured by an inner product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3F549F02-575D-B28F-97FC-F1F36E0EE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175" y="4822675"/>
            <a:ext cx="3704927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60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A136210A-ACFA-082F-A744-15EFE91A3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5179E16D-386E-CDC6-095B-8500F6D4FC5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 Machine Translation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F7D4D855-2B13-8800-3C10-50B152D139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105445"/>
            <a:ext cx="8818500" cy="53313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noProof="0" dirty="0"/>
              <a:t>This abstract framework becomes particularly compelling when applied to problems that genuinely require a </a:t>
            </a:r>
            <a:r>
              <a:rPr lang="en-GB" b="1" noProof="0" dirty="0"/>
              <a:t>flexible, size-independent mechanism for retrieving and aggregating information</a:t>
            </a:r>
            <a:r>
              <a:rPr lang="en-GB" noProof="0" dirty="0"/>
              <a:t>. </a:t>
            </a:r>
          </a:p>
          <a:p>
            <a:r>
              <a:rPr lang="en-GB" noProof="0" dirty="0"/>
              <a:t>Machine translation is a </a:t>
            </a:r>
            <a:r>
              <a:rPr lang="en-GB" b="1" noProof="0" dirty="0"/>
              <a:t>canonical example </a:t>
            </a:r>
            <a:r>
              <a:rPr lang="en-GB" noProof="0" dirty="0"/>
              <a:t>of such a problem: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Transform a sentence in a source language into a semantically equivalent sentence in a target language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Both the input and the output are variable-length sequences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T</a:t>
            </a:r>
            <a:r>
              <a:rPr lang="en-GB" noProof="0" dirty="0"/>
              <a:t>here is no fixed positional correspondence between their elements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A word appearing early in the source sentence may influence a word generated much later in the target sentence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Different languages may reorder grammatical structures in radically different ways</a:t>
            </a:r>
          </a:p>
          <a:p>
            <a:r>
              <a:rPr lang="en-GB" noProof="0" dirty="0"/>
              <a:t>Machine translation exemplifies a large class of problems involving </a:t>
            </a:r>
            <a:r>
              <a:rPr lang="en-GB" b="1" noProof="0" dirty="0"/>
              <a:t>mappings between two unaligned sequences</a:t>
            </a:r>
            <a:endParaRPr lang="en-GB" noProof="0" dirty="0"/>
          </a:p>
          <a:p>
            <a:r>
              <a:rPr lang="en-GB" noProof="0" dirty="0"/>
              <a:t>The challenge: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to process sequential data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dynamically determine which parts of one sequence are most relevant to each element of the other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noProof="0" dirty="0"/>
          </a:p>
          <a:p>
            <a:r>
              <a:rPr lang="en-GB" noProof="0" dirty="0"/>
              <a:t>Attention allow a model to perform content-based retrieval over the entire input sequence while generating each output element</a:t>
            </a:r>
            <a:br>
              <a:rPr lang="en-GB" noProof="0" dirty="0"/>
            </a:br>
            <a:endParaRPr lang="en-GB" b="1" noProof="0" dirty="0"/>
          </a:p>
          <a:p>
            <a:pPr marL="590550" lvl="1" indent="0">
              <a:buNone/>
            </a:pPr>
            <a:endParaRPr lang="en-GB" noProof="0" dirty="0"/>
          </a:p>
          <a:p>
            <a:pPr lvl="1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07134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9BB49206-AE54-86E4-2A72-6869CD113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0A819E12-45B5-867A-F297-60614139A9E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English–Italian dataset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1E309E29-2B24-D99B-DA8E-094C9F2ABE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105445"/>
            <a:ext cx="8818500" cy="53313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T</a:t>
            </a:r>
            <a:r>
              <a:rPr lang="en-GB" noProof="0" dirty="0"/>
              <a:t>he </a:t>
            </a:r>
            <a:r>
              <a:rPr lang="en-GB" b="1" noProof="0" dirty="0" err="1"/>
              <a:t>Tatoeba</a:t>
            </a:r>
            <a:r>
              <a:rPr lang="en-GB" b="1" noProof="0" dirty="0"/>
              <a:t> Project</a:t>
            </a:r>
            <a:r>
              <a:rPr lang="en-GB" noProof="0" dirty="0"/>
              <a:t>: a crowd-sourced collection of bilingual sentence pairs</a:t>
            </a:r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pPr marL="120650" indent="0">
              <a:buNone/>
            </a:pPr>
            <a:endParaRPr lang="en-GB" dirty="0"/>
          </a:p>
          <a:p>
            <a:r>
              <a:rPr lang="en-GB" noProof="0" dirty="0"/>
              <a:t>Preprocessing steps: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non-breaking spaces are replaced with standard spaces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uppercase characters are converted to lowercase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punctuation marks are separated from adjacent words by inserting whitespace</a:t>
            </a:r>
            <a:br>
              <a:rPr lang="en-GB" noProof="0" dirty="0"/>
            </a:br>
            <a:endParaRPr lang="en-GB" b="1" noProof="0" dirty="0"/>
          </a:p>
          <a:p>
            <a:pPr marL="590550" lvl="1" indent="0">
              <a:buNone/>
            </a:pPr>
            <a:endParaRPr lang="en-GB" noProof="0" dirty="0"/>
          </a:p>
          <a:p>
            <a:pPr lvl="1"/>
            <a:endParaRPr lang="en-GB" noProof="0" dirty="0"/>
          </a:p>
        </p:txBody>
      </p:sp>
      <p:pic>
        <p:nvPicPr>
          <p:cNvPr id="2" name="Immagine 1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B439D5FD-B51C-33CC-6F82-A8D5AFFB2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202290"/>
            <a:ext cx="270870" cy="329613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64CF1D91-BBC6-9182-0EE3-5FBBC26D2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31903"/>
            <a:ext cx="4634405" cy="369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50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993B7A04-5C30-2A09-B4D1-F4DD147B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D813E53E-0C51-3F33-DD50-F804C413EA1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World-level Tokenization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071FCDA3-6180-61C6-416B-C8407E76E6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043733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noProof="0" dirty="0"/>
              <a:t>We adopt a word-level tokenization strategy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E</a:t>
            </a:r>
            <a:r>
              <a:rPr lang="en-GB" noProof="0" dirty="0"/>
              <a:t>ach token corresponds either to a word or to an individual punctuation symbol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Each sentence is decomposed into a sequence of tokens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An </a:t>
            </a:r>
            <a:r>
              <a:rPr lang="en-GB" b="1" noProof="0" dirty="0"/>
              <a:t>end-of-sequence token</a:t>
            </a:r>
            <a:r>
              <a:rPr lang="en-GB" noProof="0" dirty="0"/>
              <a:t> (&lt;</a:t>
            </a:r>
            <a:r>
              <a:rPr lang="en-GB" noProof="0" dirty="0" err="1"/>
              <a:t>eos</a:t>
            </a:r>
            <a:r>
              <a:rPr lang="en-GB" noProof="0" dirty="0"/>
              <a:t>&gt;)  is appended to the end of the sequence</a:t>
            </a:r>
          </a:p>
          <a:p>
            <a:r>
              <a:rPr lang="en-GB" noProof="0" dirty="0"/>
              <a:t>The procedure produces </a:t>
            </a:r>
            <a:r>
              <a:rPr lang="en-GB" b="1" noProof="0" dirty="0"/>
              <a:t>two collections of tokenized sequences</a:t>
            </a:r>
          </a:p>
          <a:p>
            <a:pPr marL="590550" lvl="1" indent="0">
              <a:buNone/>
            </a:pPr>
            <a:endParaRPr lang="en-GB" noProof="0" dirty="0"/>
          </a:p>
          <a:p>
            <a:pPr lvl="1"/>
            <a:endParaRPr lang="en-GB" noProof="0" dirty="0"/>
          </a:p>
        </p:txBody>
      </p:sp>
      <p:pic>
        <p:nvPicPr>
          <p:cNvPr id="2" name="Immagine 1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FBCFAF38-9F7A-CD56-1A9E-010CE62C4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25" y="2142403"/>
            <a:ext cx="270870" cy="329613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A582E0F1-44E2-1B53-B343-833F8C754F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45" y="2400765"/>
            <a:ext cx="5847409" cy="486296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CF714527-6DFC-EECC-FFF2-0B6E1D1A70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695" y="3153580"/>
            <a:ext cx="6697004" cy="328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6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B087DD53-A841-F7CB-50DC-FBD6197C8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00594A52-E22D-3AF8-9385-D70FF991EEB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br>
              <a:rPr lang="en-GB" sz="4000" dirty="0"/>
            </a:br>
            <a:r>
              <a:rPr lang="en-GB" sz="4000" dirty="0"/>
              <a:t>Vocabulary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0D6B4963-8808-76DF-AB03-A4550505F4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141070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noProof="0" dirty="0"/>
              <a:t>We construct </a:t>
            </a:r>
            <a:r>
              <a:rPr lang="en-GB" b="1" noProof="0" dirty="0"/>
              <a:t>two distinct vocabularies</a:t>
            </a:r>
            <a:r>
              <a:rPr lang="en-GB" noProof="0" dirty="0"/>
              <a:t> </a:t>
            </a:r>
          </a:p>
          <a:p>
            <a:pPr lvl="1"/>
            <a:r>
              <a:rPr lang="en-GB" dirty="0"/>
              <a:t>O</a:t>
            </a:r>
            <a:r>
              <a:rPr lang="en-GB" noProof="0" dirty="0"/>
              <a:t>ne for the source language </a:t>
            </a:r>
          </a:p>
          <a:p>
            <a:pPr lvl="1"/>
            <a:r>
              <a:rPr lang="en-GB" noProof="0" dirty="0"/>
              <a:t>One for the target language</a:t>
            </a:r>
          </a:p>
          <a:p>
            <a:r>
              <a:rPr lang="en-GB" noProof="0" dirty="0"/>
              <a:t>Under a word-level tokenization scheme, the </a:t>
            </a:r>
            <a:r>
              <a:rPr lang="en-GB" b="1" noProof="0" dirty="0"/>
              <a:t>number of unique tokens can grow rapidly</a:t>
            </a:r>
            <a:r>
              <a:rPr lang="en-GB" noProof="0" dirty="0"/>
              <a:t> </a:t>
            </a:r>
          </a:p>
          <a:p>
            <a:pPr lvl="1"/>
            <a:r>
              <a:rPr lang="en-GB" dirty="0"/>
              <a:t>E</a:t>
            </a:r>
            <a:r>
              <a:rPr lang="en-GB" noProof="0" dirty="0"/>
              <a:t>ach word form is treated as a </a:t>
            </a:r>
            <a:r>
              <a:rPr lang="en-GB" b="1" noProof="0" dirty="0"/>
              <a:t>separate</a:t>
            </a:r>
            <a:r>
              <a:rPr lang="en-GB" noProof="0" dirty="0"/>
              <a:t> vocabulary entry</a:t>
            </a:r>
          </a:p>
          <a:p>
            <a:r>
              <a:rPr lang="en-GB" noProof="0" dirty="0"/>
              <a:t>To keep the vocabulary size manageable, tokens appearing fewer than two times in the corpus are </a:t>
            </a:r>
            <a:r>
              <a:rPr lang="en-GB" b="1" noProof="0" dirty="0"/>
              <a:t>replaced</a:t>
            </a:r>
            <a:r>
              <a:rPr lang="en-GB" noProof="0" dirty="0"/>
              <a:t> by a shared </a:t>
            </a:r>
            <a:r>
              <a:rPr lang="en-GB" b="1" noProof="0" dirty="0"/>
              <a:t>unknown token</a:t>
            </a:r>
            <a:r>
              <a:rPr lang="en-GB" noProof="0" dirty="0"/>
              <a:t> (&lt;</a:t>
            </a:r>
            <a:r>
              <a:rPr lang="en-GB" noProof="0" dirty="0" err="1"/>
              <a:t>unk</a:t>
            </a:r>
            <a:r>
              <a:rPr lang="en-GB" noProof="0" dirty="0"/>
              <a:t>&gt;). </a:t>
            </a:r>
          </a:p>
          <a:p>
            <a:r>
              <a:rPr lang="en-GB" noProof="0" dirty="0"/>
              <a:t>The vocabularies include several </a:t>
            </a:r>
            <a:r>
              <a:rPr lang="en-GB" b="1" noProof="0" dirty="0"/>
              <a:t>special-purpose tokens</a:t>
            </a:r>
            <a:r>
              <a:rPr lang="en-GB" noProof="0" dirty="0"/>
              <a:t> used to structure and control the sequence-processing pipeline:</a:t>
            </a:r>
          </a:p>
          <a:p>
            <a:pPr lvl="1"/>
            <a:r>
              <a:rPr lang="en-GB" b="1" noProof="0" dirty="0"/>
              <a:t>beginning-of-sequence token</a:t>
            </a:r>
            <a:r>
              <a:rPr lang="en-GB" noProof="0" dirty="0"/>
              <a:t> (&lt;</a:t>
            </a:r>
            <a:r>
              <a:rPr lang="en-GB" noProof="0" dirty="0" err="1"/>
              <a:t>bos</a:t>
            </a:r>
            <a:r>
              <a:rPr lang="en-GB" noProof="0" dirty="0"/>
              <a:t>&gt;), which marks the start of a target sentence. </a:t>
            </a:r>
          </a:p>
          <a:p>
            <a:pPr lvl="1"/>
            <a:r>
              <a:rPr lang="en-GB" b="1" noProof="0" dirty="0"/>
              <a:t>end-of-sequence token</a:t>
            </a:r>
            <a:r>
              <a:rPr lang="en-GB" noProof="0" dirty="0"/>
              <a:t> (&lt;</a:t>
            </a:r>
            <a:r>
              <a:rPr lang="en-GB" noProof="0" dirty="0" err="1"/>
              <a:t>eos</a:t>
            </a:r>
            <a:r>
              <a:rPr lang="en-GB" noProof="0" dirty="0"/>
              <a:t>&gt;), already considered </a:t>
            </a:r>
          </a:p>
          <a:p>
            <a:pPr lvl="1"/>
            <a:r>
              <a:rPr lang="en-GB" b="1" noProof="0" dirty="0"/>
              <a:t>padding token</a:t>
            </a:r>
            <a:r>
              <a:rPr lang="en-GB" noProof="0" dirty="0"/>
              <a:t> (&lt;pad&gt;), to standardize sequence lengths within a minibatch</a:t>
            </a:r>
          </a:p>
          <a:p>
            <a:r>
              <a:rPr lang="en-GB" noProof="0" dirty="0"/>
              <a:t>The presence of these special tokens allows the model to manage variable-length sequences effectively, providing clear markers</a:t>
            </a:r>
            <a:endParaRPr lang="en-GB" b="1" noProof="0" dirty="0"/>
          </a:p>
          <a:p>
            <a:pPr marL="590550" lvl="1" indent="0">
              <a:buNone/>
            </a:pPr>
            <a:endParaRPr lang="en-GB" noProof="0" dirty="0"/>
          </a:p>
          <a:p>
            <a:pPr lvl="1"/>
            <a:endParaRPr lang="en-GB" noProof="0" dirty="0"/>
          </a:p>
        </p:txBody>
      </p:sp>
      <p:pic>
        <p:nvPicPr>
          <p:cNvPr id="2" name="Immagine 1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D4CA64B2-CAFC-3859-BD29-8670AB254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239878"/>
            <a:ext cx="270870" cy="32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6892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EB90EFCD-1295-2A9D-2489-F8A3FFB34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4BF57E4A-CD98-BBD9-1C72-C6488DAFE04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Word embeddings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4E53A942-1CCC-1F82-2291-0344C25C48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212321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noProof="0" dirty="0"/>
              <a:t>Token indices are </a:t>
            </a:r>
            <a:r>
              <a:rPr lang="en-GB" b="1" noProof="0" dirty="0"/>
              <a:t>merely arbitrary integer identifiers </a:t>
            </a:r>
            <a:r>
              <a:rPr lang="en-GB" noProof="0" dirty="0"/>
              <a:t>and carry </a:t>
            </a:r>
            <a:r>
              <a:rPr lang="en-GB" b="1" noProof="0" dirty="0"/>
              <a:t>no intrinsic geometric</a:t>
            </a:r>
            <a:r>
              <a:rPr lang="en-GB" noProof="0" dirty="0"/>
              <a:t> or semantic structure</a:t>
            </a:r>
          </a:p>
          <a:p>
            <a:pPr lvl="1"/>
            <a:r>
              <a:rPr lang="en-GB" noProof="0" dirty="0"/>
              <a:t>Token 42 is not meaningfully "closer" to token 41 than to token 9000. </a:t>
            </a:r>
          </a:p>
          <a:p>
            <a:r>
              <a:rPr lang="en-GB" noProof="0" dirty="0"/>
              <a:t>The </a:t>
            </a:r>
            <a:r>
              <a:rPr lang="en-GB" b="1" noProof="0" dirty="0"/>
              <a:t>embedding layer</a:t>
            </a:r>
            <a:r>
              <a:rPr lang="en-GB" noProof="0" dirty="0"/>
              <a:t> addresses this problem by associating each token with a </a:t>
            </a:r>
            <a:r>
              <a:rPr lang="en-GB" b="1" noProof="0" dirty="0"/>
              <a:t>learnable dense vector representation</a:t>
            </a:r>
          </a:p>
          <a:p>
            <a:endParaRPr lang="en-GB" b="1" dirty="0"/>
          </a:p>
          <a:p>
            <a:endParaRPr lang="en-GB" b="1" noProof="0" dirty="0"/>
          </a:p>
          <a:p>
            <a:endParaRPr lang="en-GB" b="1" dirty="0"/>
          </a:p>
          <a:p>
            <a:r>
              <a:rPr lang="en-GB" noProof="0" dirty="0"/>
              <a:t>The </a:t>
            </a:r>
            <a:r>
              <a:rPr lang="en-GB" b="1" noProof="0" dirty="0"/>
              <a:t>embedding vectors</a:t>
            </a:r>
            <a:r>
              <a:rPr lang="en-GB" noProof="0" dirty="0"/>
              <a:t> are typically </a:t>
            </a:r>
            <a:r>
              <a:rPr lang="en-GB" b="1" noProof="0" dirty="0"/>
              <a:t>initialized randomly </a:t>
            </a:r>
            <a:r>
              <a:rPr lang="en-GB" noProof="0" dirty="0"/>
              <a:t>and </a:t>
            </a:r>
            <a:r>
              <a:rPr lang="en-GB" b="1" noProof="0" dirty="0"/>
              <a:t>optimized jointly with the rest of the network during training</a:t>
            </a:r>
            <a:r>
              <a:rPr lang="en-GB" noProof="0" dirty="0"/>
              <a:t>. Over time, the model </a:t>
            </a:r>
            <a:r>
              <a:rPr lang="en-GB" b="1" noProof="0" dirty="0"/>
              <a:t>learns a geometry </a:t>
            </a:r>
            <a:r>
              <a:rPr lang="en-GB" noProof="0" dirty="0"/>
              <a:t>in which tokens appearing in similar linguistic contexts acquire similar vector representations</a:t>
            </a:r>
            <a:endParaRPr lang="en-GB" b="1" noProof="0" dirty="0"/>
          </a:p>
          <a:p>
            <a:pPr marL="590550" lvl="1" indent="0">
              <a:buNone/>
            </a:pPr>
            <a:endParaRPr lang="en-GB" noProof="0" dirty="0"/>
          </a:p>
          <a:p>
            <a:pPr lvl="1"/>
            <a:endParaRPr lang="en-GB" noProof="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56CC740-1776-F48C-DCEC-535048481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48691"/>
            <a:ext cx="2441777" cy="466406"/>
          </a:xfrm>
          <a:prstGeom prst="rect">
            <a:avLst/>
          </a:prstGeom>
        </p:spPr>
      </p:pic>
      <p:pic>
        <p:nvPicPr>
          <p:cNvPr id="4" name="Immagine 3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ACBEA24A-57B9-6171-4C2D-25BF8C049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3693810"/>
            <a:ext cx="270870" cy="329613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776FAF29-430F-1CF2-44F7-1BAC8F4EE9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217097"/>
            <a:ext cx="7772400" cy="42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061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F34431B0-C61D-4EF5-D125-01426702C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2DFB46BB-1107-2C9B-8534-75AFFD78EBD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Evaluation (1)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AA48903C-1E3B-A5C3-5987-889B7B1EBA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105444"/>
            <a:ext cx="8818500" cy="54932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noProof="0" dirty="0"/>
              <a:t>Defining the problem also means </a:t>
            </a:r>
            <a:r>
              <a:rPr lang="en-GB" b="1" noProof="0" dirty="0"/>
              <a:t>deciding how to measure success</a:t>
            </a:r>
            <a:r>
              <a:rPr lang="en-GB" noProof="0" dirty="0"/>
              <a:t>.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A</a:t>
            </a:r>
            <a:r>
              <a:rPr lang="en-GB" noProof="0" dirty="0"/>
              <a:t> sentence can have </a:t>
            </a:r>
            <a:r>
              <a:rPr lang="en-GB" b="1" noProof="0" dirty="0"/>
              <a:t>many valid translations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Comparing two strings character by character would penalise perfectly correct outputs that simply chose different words. </a:t>
            </a:r>
          </a:p>
          <a:p>
            <a:r>
              <a:rPr lang="en-GB" noProof="0" dirty="0"/>
              <a:t>The standard metric is </a:t>
            </a:r>
            <a:r>
              <a:rPr lang="en-GB" b="1" noProof="0" dirty="0"/>
              <a:t>Bilingual Evaluation Understudy (BLEU)</a:t>
            </a:r>
            <a:endParaRPr lang="en-GB" b="1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measures how much of the predicted output appears in the reference translation, at multiple </a:t>
            </a:r>
            <a:r>
              <a:rPr lang="en-GB" b="1" noProof="0" dirty="0"/>
              <a:t>levels of granularity</a:t>
            </a:r>
            <a:endParaRPr lang="en-GB" noProof="0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b="1" noProof="0" dirty="0"/>
              <a:t>n-gram</a:t>
            </a:r>
            <a:r>
              <a:rPr lang="en-GB" noProof="0" dirty="0"/>
              <a:t>: a contiguous subsequence of exactly n tokens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b="1" dirty="0"/>
          </a:p>
          <a:p>
            <a:pPr marL="590550" lvl="1" indent="0">
              <a:spcBef>
                <a:spcPts val="0"/>
              </a:spcBef>
              <a:spcAft>
                <a:spcPts val="0"/>
              </a:spcAft>
              <a:buNone/>
            </a:pPr>
            <a:endParaRPr lang="en-GB" b="1" dirty="0"/>
          </a:p>
          <a:p>
            <a:pPr marL="590550" lvl="1" indent="0">
              <a:spcBef>
                <a:spcPts val="0"/>
              </a:spcBef>
              <a:spcAft>
                <a:spcPts val="0"/>
              </a:spcAft>
              <a:buNone/>
            </a:pPr>
            <a:endParaRPr lang="en-GB" b="1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Longer n-grams </a:t>
            </a:r>
            <a:r>
              <a:rPr lang="en-GB" b="1" noProof="0" dirty="0"/>
              <a:t>capture more context</a:t>
            </a:r>
            <a:r>
              <a:rPr lang="en-GB" noProof="0" dirty="0"/>
              <a:t> and impose </a:t>
            </a:r>
            <a:r>
              <a:rPr lang="en-GB" b="1" noProof="0" dirty="0"/>
              <a:t>stricter ordering constraints</a:t>
            </a:r>
            <a:r>
              <a:rPr lang="en-GB" noProof="0" dirty="0"/>
              <a:t>: 	</a:t>
            </a:r>
          </a:p>
          <a:p>
            <a:r>
              <a:rPr lang="en-GB" b="1" noProof="0" dirty="0"/>
              <a:t>Precision</a:t>
            </a:r>
            <a:r>
              <a:rPr lang="en-GB" noProof="0" dirty="0"/>
              <a:t>: to measure, for each order n, how many n-grams in the predicted sequence also appear in the reference:</a:t>
            </a:r>
          </a:p>
          <a:p>
            <a:pPr marL="590550" lvl="1" indent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GB" noProof="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5EE501B-A5EA-51E3-1A69-81B6B734D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033" y="3390405"/>
            <a:ext cx="1792665" cy="25609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E5D59FF-2FAE-E28C-1862-6F11A8299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600" y="3189350"/>
            <a:ext cx="4418748" cy="61708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A5882E5-8D2B-056B-3D9C-3B7AC7796B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118" y="5352505"/>
            <a:ext cx="3390900" cy="80010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988DBF3A-765E-FCE8-D97D-F3CB9E4008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5765" y="5182027"/>
            <a:ext cx="3269755" cy="1416619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4C77A763-1945-F138-842B-C17A176BF2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6793" y="4913056"/>
            <a:ext cx="2343700" cy="22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272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B8FA5F17-16F2-5BFC-3232-F571EF1A9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ACD26692-D4F8-5BAF-A513-52B67EC4B6E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Evaluation (2)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FD69E140-37E6-887A-E70B-6E405F0B97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057944"/>
            <a:ext cx="8818500" cy="55377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noProof="0" dirty="0"/>
              <a:t>The scores drop as n grows because a mismatch contaminates progressively longer windows</a:t>
            </a:r>
          </a:p>
          <a:p>
            <a:r>
              <a:rPr lang="en-GB" noProof="0" dirty="0"/>
              <a:t>Precision alone has a </a:t>
            </a:r>
            <a:r>
              <a:rPr lang="en-GB" b="1" noProof="0" dirty="0"/>
              <a:t>blind spot</a:t>
            </a:r>
            <a:endParaRPr lang="en-GB" b="1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</a:t>
            </a:r>
            <a:r>
              <a:rPr lang="en-GB" noProof="0" dirty="0"/>
              <a:t>t rewards every correct word but never asks </a:t>
            </a:r>
            <a:r>
              <a:rPr lang="en-GB" b="1" noProof="0" dirty="0"/>
              <a:t>what was missed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A prediction of "the" scores a perfect unigram precision against almost any reference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noProof="0" dirty="0"/>
              <a:t>The natural fix would be </a:t>
            </a:r>
            <a:r>
              <a:rPr lang="en-GB" b="1" noProof="0" dirty="0"/>
              <a:t>recall</a:t>
            </a:r>
            <a:r>
              <a:rPr lang="en-GB" noProof="0" dirty="0"/>
              <a:t>, but it is awkward when multiple valid translations of different lengths exist </a:t>
            </a:r>
          </a:p>
          <a:p>
            <a:r>
              <a:rPr lang="en-GB" noProof="0" dirty="0"/>
              <a:t>BLEU instead applies a </a:t>
            </a:r>
            <a:r>
              <a:rPr lang="en-GB" b="1" noProof="0" dirty="0"/>
              <a:t>brevity penalty</a:t>
            </a:r>
            <a:r>
              <a:rPr lang="en-GB" noProof="0" dirty="0"/>
              <a:t> that discounts scores when the prediction is suspiciously short:</a:t>
            </a:r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r>
              <a:rPr lang="en-GB" noProof="0" dirty="0"/>
              <a:t>Combining brevity penalty with precisions gives the final BLEU score:</a:t>
            </a:r>
          </a:p>
          <a:p>
            <a:endParaRPr lang="en-GB" dirty="0"/>
          </a:p>
          <a:p>
            <a:endParaRPr lang="en-GB" noProof="0" dirty="0"/>
          </a:p>
          <a:p>
            <a:pPr marL="120650" indent="0">
              <a:buNone/>
            </a:pPr>
            <a:endParaRPr lang="en-GB" noProof="0" dirty="0"/>
          </a:p>
          <a:p>
            <a:r>
              <a:rPr lang="en-GB" noProof="0" dirty="0"/>
              <a:t>Precisions are combined as a </a:t>
            </a:r>
            <a:r>
              <a:rPr lang="en-GB" b="1" noProof="0" dirty="0"/>
              <a:t>geometric mean </a:t>
            </a:r>
            <a:r>
              <a:rPr lang="en-GB" noProof="0" dirty="0"/>
              <a:t>rather than an arithmetic mean, a single near-zero precision drags the whole product toward zero. </a:t>
            </a:r>
            <a:br>
              <a:rPr lang="en-GB" noProof="0" dirty="0"/>
            </a:br>
            <a:endParaRPr lang="en-GB" b="1" noProof="0" dirty="0"/>
          </a:p>
          <a:p>
            <a:pPr marL="590550" lvl="1" indent="0">
              <a:buNone/>
            </a:pPr>
            <a:endParaRPr lang="en-GB" noProof="0" dirty="0"/>
          </a:p>
          <a:p>
            <a:pPr lvl="1"/>
            <a:endParaRPr lang="en-GB" noProof="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2B70C9E-2E1B-FAE0-6B82-DD0472BE8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67" y="3532169"/>
            <a:ext cx="3568700" cy="10287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6A3D05B-22FA-1230-FCEF-DB42F7F58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67" y="5016281"/>
            <a:ext cx="3024876" cy="86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06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031706AA-0FBC-E21E-28E0-92D292933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1AE16B65-EEC7-C8E6-A0A3-A2C6BFFBD75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Encoder–Decoder solution (1)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57301235-72E7-68C9-CD5B-8AFCD1D821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105445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noProof="0" dirty="0"/>
              <a:t>The </a:t>
            </a:r>
            <a:r>
              <a:rPr lang="en-GB" b="1" noProof="0" dirty="0"/>
              <a:t>encoder–decoder architecture </a:t>
            </a:r>
            <a:r>
              <a:rPr lang="en-GB" noProof="0" dirty="0"/>
              <a:t>can be applied:</a:t>
            </a:r>
          </a:p>
          <a:p>
            <a:endParaRPr lang="en-GB" dirty="0"/>
          </a:p>
          <a:p>
            <a:endParaRPr lang="en-GB" noProof="0" dirty="0"/>
          </a:p>
          <a:p>
            <a:pPr marL="120650" indent="0">
              <a:buNone/>
            </a:pPr>
            <a:endParaRPr lang="en-GB" noProof="0" dirty="0"/>
          </a:p>
          <a:p>
            <a:r>
              <a:rPr lang="en-GB" noProof="0" dirty="0"/>
              <a:t>The encoder compresses the input sequence into an internal representation</a:t>
            </a:r>
          </a:p>
          <a:p>
            <a:r>
              <a:rPr lang="en-GB" noProof="0" dirty="0"/>
              <a:t>The decoder generates the output sequence using that representation</a:t>
            </a:r>
            <a:br>
              <a:rPr lang="en-GB" noProof="0" dirty="0"/>
            </a:br>
            <a:endParaRPr lang="en-GB" b="1" noProof="0" dirty="0"/>
          </a:p>
          <a:p>
            <a:pPr marL="590550" lvl="1" indent="0">
              <a:buNone/>
            </a:pPr>
            <a:endParaRPr lang="en-GB" noProof="0" dirty="0"/>
          </a:p>
          <a:p>
            <a:pPr lvl="1"/>
            <a:endParaRPr lang="en-GB" noProof="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C11CB24-9C7C-149F-9A00-26C43E231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73" y="1563586"/>
            <a:ext cx="6788479" cy="66881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EFB50F42-4063-8499-2BB0-3DF9A42A4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973" y="3073629"/>
            <a:ext cx="7772400" cy="3089649"/>
          </a:xfrm>
          <a:prstGeom prst="rect">
            <a:avLst/>
          </a:prstGeom>
        </p:spPr>
      </p:pic>
      <p:pic>
        <p:nvPicPr>
          <p:cNvPr id="6" name="Immagine 5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95B3389D-CC05-BF90-912A-D7E24BD4EF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950" y="1192378"/>
            <a:ext cx="270870" cy="32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494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B36EB7CC-50EF-6617-4137-6D77B061C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4F13A340-46E9-B561-94FF-99C5E223568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Encoder–Decoder solution (2)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6AF8678F-1867-EEE0-158F-F5C30218E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962941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At each decoding step, the model outputs a vector of logits over the target vocabulary, from which a probability distribution is obtained via </a:t>
            </a:r>
            <a:r>
              <a:rPr lang="en-GB" dirty="0" err="1"/>
              <a:t>softmax</a:t>
            </a:r>
            <a:r>
              <a:rPr lang="en-GB" dirty="0"/>
              <a:t>:</a:t>
            </a:r>
          </a:p>
          <a:p>
            <a:pPr marL="120650" indent="0">
              <a:buNone/>
            </a:pPr>
            <a:endParaRPr lang="en-GB" dirty="0"/>
          </a:p>
          <a:p>
            <a:endParaRPr lang="en-GB" dirty="0"/>
          </a:p>
          <a:p>
            <a:endParaRPr lang="en-GB" sz="1050" dirty="0"/>
          </a:p>
          <a:p>
            <a:r>
              <a:rPr lang="en-GB" noProof="0" dirty="0"/>
              <a:t>Predicting the correct next token out of several candidates Is a </a:t>
            </a:r>
            <a:r>
              <a:rPr lang="en-GB" b="1" noProof="0" dirty="0"/>
              <a:t>multi-class classification problem</a:t>
            </a:r>
            <a:r>
              <a:rPr lang="en-GB" noProof="0" dirty="0"/>
              <a:t>, making </a:t>
            </a:r>
            <a:r>
              <a:rPr lang="en-GB" b="1" noProof="0" dirty="0"/>
              <a:t>cross-entropy loss</a:t>
            </a:r>
            <a:r>
              <a:rPr lang="en-GB" noProof="0" dirty="0"/>
              <a:t> the natural objective:</a:t>
            </a:r>
          </a:p>
          <a:p>
            <a:endParaRPr lang="en-GB" b="1" dirty="0"/>
          </a:p>
          <a:p>
            <a:endParaRPr lang="en-GB" b="1" dirty="0"/>
          </a:p>
          <a:p>
            <a:pPr marL="120650" indent="0">
              <a:buNone/>
            </a:pPr>
            <a:endParaRPr lang="en-GB" b="1" dirty="0"/>
          </a:p>
          <a:p>
            <a:r>
              <a:rPr lang="en-GB" dirty="0"/>
              <a:t>Practical complication: sentences </a:t>
            </a:r>
            <a:r>
              <a:rPr lang="en-GB" b="1" dirty="0"/>
              <a:t>in the same minibatch </a:t>
            </a:r>
            <a:r>
              <a:rPr lang="en-GB" dirty="0"/>
              <a:t>generally have </a:t>
            </a:r>
            <a:r>
              <a:rPr lang="en-GB" b="1" dirty="0"/>
              <a:t>different lengths, </a:t>
            </a:r>
            <a:r>
              <a:rPr lang="en-GB" dirty="0"/>
              <a:t>so we apply </a:t>
            </a:r>
            <a:r>
              <a:rPr lang="en-GB" b="1" dirty="0"/>
              <a:t>padding</a:t>
            </a:r>
            <a:r>
              <a:rPr lang="en-GB" dirty="0"/>
              <a:t>:</a:t>
            </a:r>
          </a:p>
          <a:p>
            <a:endParaRPr lang="en-GB" b="1" noProof="0" dirty="0"/>
          </a:p>
          <a:p>
            <a:pPr marL="120650" indent="0">
              <a:buNone/>
            </a:pPr>
            <a:endParaRPr lang="en-GB" sz="2000" b="1" noProof="0" dirty="0"/>
          </a:p>
          <a:p>
            <a:r>
              <a:rPr lang="en-GB" noProof="0" dirty="0"/>
              <a:t>Padding positions carry no meaningful prediction target, so </a:t>
            </a:r>
            <a:r>
              <a:rPr lang="en-GB" dirty="0"/>
              <a:t>t</a:t>
            </a:r>
            <a:r>
              <a:rPr lang="en-GB" noProof="0" dirty="0"/>
              <a:t>hey must be excluded:</a:t>
            </a:r>
          </a:p>
          <a:p>
            <a:pPr lvl="1"/>
            <a:endParaRPr lang="en-GB" noProof="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CC9661A-7205-888F-762C-B6C1B96C1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79" y="1784186"/>
            <a:ext cx="759724" cy="3672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6B4ACEC-6156-0962-0F6D-C7206BA1B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407" y="1646161"/>
            <a:ext cx="1866900" cy="76200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A7DBBF24-CC48-0CA2-3DDD-B55F276B6E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507" y="3034927"/>
            <a:ext cx="3599345" cy="84240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0898A5B9-2A3C-4EC9-0A5A-6E7F5DA133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507" y="4605321"/>
            <a:ext cx="2758961" cy="586551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D5B56CA5-34F9-3D2F-53EB-7E98008587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7225" y="4639424"/>
            <a:ext cx="2116571" cy="259172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84C83EFF-AF37-F1B5-9E85-6E3B61C77A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779" y="5793471"/>
            <a:ext cx="46863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656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9B11D62E-941E-DB49-A76C-7F5607B5F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D776872E-55B7-AD19-B313-277084CD1FB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Encoder–Decoder solution (3)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9CC30D73-3DBD-E991-A6DB-338183E993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105445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pPr marL="120650" indent="0">
              <a:buNone/>
            </a:pPr>
            <a:br>
              <a:rPr lang="en-GB" noProof="0" dirty="0"/>
            </a:br>
            <a:endParaRPr lang="en-GB" b="1" noProof="0" dirty="0"/>
          </a:p>
          <a:p>
            <a:pPr marL="590550" lvl="1" indent="0">
              <a:buNone/>
            </a:pPr>
            <a:endParaRPr lang="en-GB" noProof="0" dirty="0"/>
          </a:p>
          <a:p>
            <a:pPr lvl="1"/>
            <a:endParaRPr lang="en-GB" noProof="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38B71CD-12E8-C3EE-4CE7-113324059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00447"/>
            <a:ext cx="7772400" cy="374226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86D0BCB-3D92-4661-769D-7B0997019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39" y="5149026"/>
            <a:ext cx="11938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2001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C8598A33-97D4-BBF1-1458-31AF06C89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61AAF6D3-D8C3-8327-E70F-FFBBC3925D8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Limitation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C44B01D2-4120-86DC-728D-64F21CB54C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006810"/>
            <a:ext cx="8818500" cy="55364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T</a:t>
            </a:r>
            <a:r>
              <a:rPr lang="en-GB" noProof="0" dirty="0"/>
              <a:t>he encoder </a:t>
            </a:r>
            <a:r>
              <a:rPr lang="en-GB" b="1" noProof="0" dirty="0"/>
              <a:t>compresses</a:t>
            </a:r>
            <a:r>
              <a:rPr lang="en-GB" noProof="0" dirty="0"/>
              <a:t> all the information contained in the input sequence into a single fixed-dimensional representation </a:t>
            </a:r>
          </a:p>
          <a:p>
            <a:r>
              <a:rPr lang="en-GB" noProof="0" dirty="0"/>
              <a:t>This representation is then passed to the decoder, which </a:t>
            </a:r>
            <a:r>
              <a:rPr lang="en-GB" b="1" noProof="0" dirty="0"/>
              <a:t>relies on it as the sole source of information </a:t>
            </a:r>
            <a:r>
              <a:rPr lang="en-GB" noProof="0" dirty="0"/>
              <a:t>for generating the output sequence</a:t>
            </a:r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pPr marL="120650" indent="0">
              <a:buNone/>
            </a:pPr>
            <a:endParaRPr lang="en-GB" noProof="0" dirty="0"/>
          </a:p>
          <a:p>
            <a:r>
              <a:rPr lang="en-GB" noProof="0" dirty="0"/>
              <a:t>While this is </a:t>
            </a:r>
            <a:r>
              <a:rPr lang="en-GB" b="1" noProof="0" dirty="0"/>
              <a:t>reasonable when the input is short</a:t>
            </a:r>
            <a:r>
              <a:rPr lang="en-GB" noProof="0" dirty="0"/>
              <a:t> and the amount of information to be retained is limited, it </a:t>
            </a:r>
            <a:r>
              <a:rPr lang="en-GB" b="1" noProof="0" dirty="0"/>
              <a:t>becomes problematic as the input grows </a:t>
            </a:r>
            <a:r>
              <a:rPr lang="en-GB" noProof="0" dirty="0"/>
              <a:t>in length or complexity.</a:t>
            </a:r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pPr marL="120650" indent="0">
              <a:buNone/>
            </a:pPr>
            <a:br>
              <a:rPr lang="en-GB" noProof="0" dirty="0"/>
            </a:br>
            <a:endParaRPr lang="en-GB" b="1" noProof="0" dirty="0"/>
          </a:p>
          <a:p>
            <a:pPr marL="590550" lvl="1" indent="0">
              <a:buNone/>
            </a:pPr>
            <a:endParaRPr lang="en-GB" noProof="0" dirty="0"/>
          </a:p>
          <a:p>
            <a:pPr lvl="1"/>
            <a:endParaRPr lang="en-GB" noProof="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8982CF7-76A9-EB14-6CA1-A555365C7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549" y="2292067"/>
            <a:ext cx="4860880" cy="310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043828"/>
      </p:ext>
    </p:extLst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8FA822B18A0634FB7342CF29752587A" ma:contentTypeVersion="12" ma:contentTypeDescription="Creare un nuovo documento." ma:contentTypeScope="" ma:versionID="4c8b1e8002f5a6c880c83187af115cef">
  <xsd:schema xmlns:xsd="http://www.w3.org/2001/XMLSchema" xmlns:xs="http://www.w3.org/2001/XMLSchema" xmlns:p="http://schemas.microsoft.com/office/2006/metadata/properties" xmlns:ns2="3bd0d43f-5e5b-43cd-b6fc-691bd77672c6" xmlns:ns3="e9b5433c-2372-4cb7-8bab-09518096b29b" targetNamespace="http://schemas.microsoft.com/office/2006/metadata/properties" ma:root="true" ma:fieldsID="618b708abf3b656f834d84e193700042" ns2:_="" ns3:_="">
    <xsd:import namespace="3bd0d43f-5e5b-43cd-b6fc-691bd77672c6"/>
    <xsd:import namespace="e9b5433c-2372-4cb7-8bab-09518096b2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d0d43f-5e5b-43cd-b6fc-691bd77672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b3f316dc-fb4b-4146-8b22-f4ef2efe4b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b5433c-2372-4cb7-8bab-09518096b29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c4bbe8c-9a55-4d5f-b385-d948ddfe6c4d}" ma:internalName="TaxCatchAll" ma:showField="CatchAllData" ma:web="e9b5433c-2372-4cb7-8bab-09518096b2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b5433c-2372-4cb7-8bab-09518096b29b" xsi:nil="true"/>
    <lcf76f155ced4ddcb4097134ff3c332f xmlns="3bd0d43f-5e5b-43cd-b6fc-691bd77672c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79B8F8-8B0B-409E-9F87-43E5BEC442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d0d43f-5e5b-43cd-b6fc-691bd77672c6"/>
    <ds:schemaRef ds:uri="e9b5433c-2372-4cb7-8bab-09518096b2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1488FF-DD04-4F1A-9AB7-D2F27367F34D}">
  <ds:schemaRefs>
    <ds:schemaRef ds:uri="http://purl.org/dc/dcmitype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3bd0d43f-5e5b-43cd-b6fc-691bd77672c6"/>
    <ds:schemaRef ds:uri="http://schemas.openxmlformats.org/package/2006/metadata/core-properties"/>
    <ds:schemaRef ds:uri="e9b5433c-2372-4cb7-8bab-09518096b29b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5C608A0-0E7D-48DE-9202-C7501813C7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55904</TotalTime>
  <Words>2187</Words>
  <Application>Microsoft Macintosh PowerPoint</Application>
  <PresentationFormat>Presentazione su schermo (4:3)</PresentationFormat>
  <Paragraphs>374</Paragraphs>
  <Slides>27</Slides>
  <Notes>27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27</vt:i4>
      </vt:variant>
    </vt:vector>
  </HeadingPairs>
  <TitlesOfParts>
    <vt:vector size="31" baseType="lpstr">
      <vt:lpstr>Economica</vt:lpstr>
      <vt:lpstr>Open Sans</vt:lpstr>
      <vt:lpstr>Arial</vt:lpstr>
      <vt:lpstr>Luxe</vt:lpstr>
      <vt:lpstr>Transformers</vt:lpstr>
      <vt:lpstr>Objectives</vt:lpstr>
      <vt:lpstr>Introduction</vt:lpstr>
      <vt:lpstr>Input Representation</vt:lpstr>
      <vt:lpstr>Tokenization: text</vt:lpstr>
      <vt:lpstr>Tokenization: Images</vt:lpstr>
      <vt:lpstr>Tokenization: Audio</vt:lpstr>
      <vt:lpstr>Embeddings</vt:lpstr>
      <vt:lpstr>Attention (1)</vt:lpstr>
      <vt:lpstr>Attention (2)</vt:lpstr>
      <vt:lpstr>Attention (3)</vt:lpstr>
      <vt:lpstr>Attention pooling</vt:lpstr>
      <vt:lpstr>Scoring functions</vt:lpstr>
      <vt:lpstr>Distance-based scoring (1)</vt:lpstr>
      <vt:lpstr>Generalized Distance-based scoring</vt:lpstr>
      <vt:lpstr>Learnable scoring</vt:lpstr>
      <vt:lpstr> Machine Translation</vt:lpstr>
      <vt:lpstr>English–Italian dataset</vt:lpstr>
      <vt:lpstr>World-level Tokenization</vt:lpstr>
      <vt:lpstr> Vocabulary</vt:lpstr>
      <vt:lpstr>Word embeddings</vt:lpstr>
      <vt:lpstr>Evaluation (1)</vt:lpstr>
      <vt:lpstr>Evaluation (2)</vt:lpstr>
      <vt:lpstr>Encoder–Decoder solution (1)</vt:lpstr>
      <vt:lpstr>Encoder–Decoder solution (2)</vt:lpstr>
      <vt:lpstr>Encoder–Decoder solution (3)</vt:lpstr>
      <vt:lpstr>Limitation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Digital Abstraction</dc:title>
  <dc:subject/>
  <dc:creator/>
  <cp:keywords/>
  <dc:description/>
  <cp:lastModifiedBy>Riccardo Berta</cp:lastModifiedBy>
  <cp:revision>35</cp:revision>
  <dcterms:modified xsi:type="dcterms:W3CDTF">2026-05-13T17:15:01Z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0x010100B8FA822B18A0634FB7342CF29752587A</vt:lpwstr>
  </property>
</Properties>
</file>